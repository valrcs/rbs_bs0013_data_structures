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5fb1528cb3490b" /><Relationship Type="http://schemas.openxmlformats.org/officeDocument/2006/relationships/extended-properties" Target="/docProps/app.xml" Id="R0aaf766f2bf4404b" /><Relationship Type="http://schemas.openxmlformats.org/officeDocument/2006/relationships/officeDocument" Target="/ppt/presentation.xml" Id="Re5028d09819c4f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30b22fd9584b0e"/>
  </p:sldMasterIdLst>
  <p:notesMasterIdLst>
    <p:notesMasterId xmlns:r="http://schemas.openxmlformats.org/officeDocument/2006/relationships" r:id="Rca6d4ecf3a2e40c6"/>
  </p:notesMasterIdLst>
  <p:sldIdLst>
    <p:sldId xmlns:r="http://schemas.openxmlformats.org/officeDocument/2006/relationships" id="256" r:id="Ra16df83092c44fa3"/>
    <p:sldId xmlns:r="http://schemas.openxmlformats.org/officeDocument/2006/relationships" id="257" r:id="Rb3fcd4b1dcd04eab"/>
    <p:sldId xmlns:r="http://schemas.openxmlformats.org/officeDocument/2006/relationships" id="258" r:id="R1bcd15255919488b"/>
    <p:sldId xmlns:r="http://schemas.openxmlformats.org/officeDocument/2006/relationships" id="259" r:id="R79c62a5e3e974c8c"/>
    <p:sldId xmlns:r="http://schemas.openxmlformats.org/officeDocument/2006/relationships" id="260" r:id="R58cbcc8cf586401a"/>
    <p:sldId xmlns:r="http://schemas.openxmlformats.org/officeDocument/2006/relationships" id="261" r:id="R4128ae8822ca4f8e"/>
    <p:sldId xmlns:r="http://schemas.openxmlformats.org/officeDocument/2006/relationships" id="262" r:id="Ra292a9df4e464c4e"/>
    <p:sldId xmlns:r="http://schemas.openxmlformats.org/officeDocument/2006/relationships" id="263" r:id="R366991e5b0d241cf"/>
    <p:sldId xmlns:r="http://schemas.openxmlformats.org/officeDocument/2006/relationships" id="264" r:id="R3e72be958b6649dc"/>
    <p:sldId xmlns:r="http://schemas.openxmlformats.org/officeDocument/2006/relationships" id="265" r:id="R97286554ca664c67"/>
    <p:sldId xmlns:r="http://schemas.openxmlformats.org/officeDocument/2006/relationships" id="266" r:id="R569f8d668c7b40fc"/>
    <p:sldId xmlns:r="http://schemas.openxmlformats.org/officeDocument/2006/relationships" id="267" r:id="R5633d5120c794828"/>
    <p:sldId xmlns:r="http://schemas.openxmlformats.org/officeDocument/2006/relationships" id="268" r:id="Rbcc1e1cd5de04019"/>
    <p:sldId xmlns:r="http://schemas.openxmlformats.org/officeDocument/2006/relationships" id="269" r:id="Rea6c33521a214b59"/>
    <p:sldId xmlns:r="http://schemas.openxmlformats.org/officeDocument/2006/relationships" id="270" r:id="Re11d3c56b3684cad"/>
    <p:sldId xmlns:r="http://schemas.openxmlformats.org/officeDocument/2006/relationships" id="271" r:id="R3c40cc1243234c7e"/>
    <p:sldId xmlns:r="http://schemas.openxmlformats.org/officeDocument/2006/relationships" id="272" r:id="R39c8c60846dd4023"/>
    <p:sldId xmlns:r="http://schemas.openxmlformats.org/officeDocument/2006/relationships" id="273" r:id="Rb9043a357efc4d1d"/>
    <p:sldId xmlns:r="http://schemas.openxmlformats.org/officeDocument/2006/relationships" id="274" r:id="R988851a73a7441c4"/>
    <p:sldId xmlns:r="http://schemas.openxmlformats.org/officeDocument/2006/relationships" id="275" r:id="Rea9b7f2da1544fd5"/>
    <p:sldId xmlns:r="http://schemas.openxmlformats.org/officeDocument/2006/relationships" id="276" r:id="R264a38e2d5324e0d"/>
    <p:sldId xmlns:r="http://schemas.openxmlformats.org/officeDocument/2006/relationships" id="277" r:id="R1d856f85aae04f2c"/>
    <p:sldId xmlns:r="http://schemas.openxmlformats.org/officeDocument/2006/relationships" id="278" r:id="R68f336d253f143f8"/>
    <p:sldId xmlns:r="http://schemas.openxmlformats.org/officeDocument/2006/relationships" id="279" r:id="Rc9d925c858e94813"/>
    <p:sldId xmlns:r="http://schemas.openxmlformats.org/officeDocument/2006/relationships" id="280" r:id="R2e841b74558f455d"/>
    <p:sldId xmlns:r="http://schemas.openxmlformats.org/officeDocument/2006/relationships" id="281" r:id="Rcf7ebeb402974201"/>
    <p:sldId xmlns:r="http://schemas.openxmlformats.org/officeDocument/2006/relationships" id="282" r:id="Rf1f140721cdc44b0"/>
    <p:sldId xmlns:r="http://schemas.openxmlformats.org/officeDocument/2006/relationships" id="283" r:id="Rc65343fb589c4685"/>
    <p:sldId xmlns:r="http://schemas.openxmlformats.org/officeDocument/2006/relationships" id="284" r:id="R5611bfd74a7b4f7b"/>
    <p:sldId xmlns:r="http://schemas.openxmlformats.org/officeDocument/2006/relationships" id="285" r:id="R379bcf8280974a56"/>
    <p:sldId xmlns:r="http://schemas.openxmlformats.org/officeDocument/2006/relationships" id="286" r:id="R03509bb4b83f4f00"/>
    <p:sldId xmlns:r="http://schemas.openxmlformats.org/officeDocument/2006/relationships" id="287" r:id="R7f5c618528e84234"/>
    <p:sldId xmlns:r="http://schemas.openxmlformats.org/officeDocument/2006/relationships" id="288" r:id="R117871952d8a41a2"/>
    <p:sldId xmlns:r="http://schemas.openxmlformats.org/officeDocument/2006/relationships" id="289" r:id="R2917e5f56f6e46c1"/>
    <p:sldId xmlns:r="http://schemas.openxmlformats.org/officeDocument/2006/relationships" id="290" r:id="Ra9a4083c681c4732"/>
    <p:sldId xmlns:r="http://schemas.openxmlformats.org/officeDocument/2006/relationships" id="291" r:id="Rae18ea6c21a345b2"/>
    <p:sldId xmlns:r="http://schemas.openxmlformats.org/officeDocument/2006/relationships" id="292" r:id="R8a666d325e1641c8"/>
    <p:sldId xmlns:r="http://schemas.openxmlformats.org/officeDocument/2006/relationships" id="293" r:id="R9eee1e9bc4964a17"/>
    <p:sldId xmlns:r="http://schemas.openxmlformats.org/officeDocument/2006/relationships" id="294" r:id="R0e4a00b7248046d9"/>
    <p:sldId xmlns:r="http://schemas.openxmlformats.org/officeDocument/2006/relationships" id="295" r:id="R27865d3bbc194cac"/>
    <p:sldId xmlns:r="http://schemas.openxmlformats.org/officeDocument/2006/relationships" id="296" r:id="R00effd03163c4f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2e56142fe340ee" /><Relationship Type="http://schemas.openxmlformats.org/officeDocument/2006/relationships/slideMaster" Target="/ppt/slideMasters/slideMaster1.xml" Id="R2030b22fd9584b0e" /><Relationship Type="http://schemas.openxmlformats.org/officeDocument/2006/relationships/notesMaster" Target="/ppt/notesMasters/notesMaster1.xml" Id="Rca6d4ecf3a2e40c6" /><Relationship Type="http://schemas.openxmlformats.org/officeDocument/2006/relationships/presProps" Target="/ppt/presProps.xml" Id="Rf016bdde46094663" /><Relationship Type="http://schemas.openxmlformats.org/officeDocument/2006/relationships/tableStyles" Target="/ppt/tableStyles.xml" Id="Rc3a9850834794b12" /><Relationship Type="http://schemas.openxmlformats.org/officeDocument/2006/relationships/slide" Target="/ppt/slides/slide1.xml" Id="Ra16df83092c44fa3" /><Relationship Type="http://schemas.openxmlformats.org/officeDocument/2006/relationships/slide" Target="/ppt/slides/slide2.xml" Id="Rb3fcd4b1dcd04eab" /><Relationship Type="http://schemas.openxmlformats.org/officeDocument/2006/relationships/slide" Target="/ppt/slides/slide3.xml" Id="R1bcd15255919488b" /><Relationship Type="http://schemas.openxmlformats.org/officeDocument/2006/relationships/slide" Target="/ppt/slides/slide4.xml" Id="R79c62a5e3e974c8c" /><Relationship Type="http://schemas.openxmlformats.org/officeDocument/2006/relationships/slide" Target="/ppt/slides/slide5.xml" Id="R58cbcc8cf586401a" /><Relationship Type="http://schemas.openxmlformats.org/officeDocument/2006/relationships/slide" Target="/ppt/slides/slide6.xml" Id="R4128ae8822ca4f8e" /><Relationship Type="http://schemas.openxmlformats.org/officeDocument/2006/relationships/slide" Target="/ppt/slides/slide7.xml" Id="Ra292a9df4e464c4e" /><Relationship Type="http://schemas.openxmlformats.org/officeDocument/2006/relationships/slide" Target="/ppt/slides/slide8.xml" Id="R366991e5b0d241cf" /><Relationship Type="http://schemas.openxmlformats.org/officeDocument/2006/relationships/slide" Target="/ppt/slides/slide9.xml" Id="R3e72be958b6649dc" /><Relationship Type="http://schemas.openxmlformats.org/officeDocument/2006/relationships/slide" Target="/ppt/slides/slide10.xml" Id="R97286554ca664c67" /><Relationship Type="http://schemas.openxmlformats.org/officeDocument/2006/relationships/slide" Target="/ppt/slides/slide11.xml" Id="R569f8d668c7b40fc" /><Relationship Type="http://schemas.openxmlformats.org/officeDocument/2006/relationships/slide" Target="/ppt/slides/slide12.xml" Id="R5633d5120c794828" /><Relationship Type="http://schemas.openxmlformats.org/officeDocument/2006/relationships/slide" Target="/ppt/slides/slide13.xml" Id="Rbcc1e1cd5de04019" /><Relationship Type="http://schemas.openxmlformats.org/officeDocument/2006/relationships/slide" Target="/ppt/slides/slide14.xml" Id="Rea6c33521a214b59" /><Relationship Type="http://schemas.openxmlformats.org/officeDocument/2006/relationships/slide" Target="/ppt/slides/slide15.xml" Id="Re11d3c56b3684cad" /><Relationship Type="http://schemas.openxmlformats.org/officeDocument/2006/relationships/slide" Target="/ppt/slides/slide16.xml" Id="R3c40cc1243234c7e" /><Relationship Type="http://schemas.openxmlformats.org/officeDocument/2006/relationships/slide" Target="/ppt/slides/slide17.xml" Id="R39c8c60846dd4023" /><Relationship Type="http://schemas.openxmlformats.org/officeDocument/2006/relationships/slide" Target="/ppt/slides/slide18.xml" Id="Rb9043a357efc4d1d" /><Relationship Type="http://schemas.openxmlformats.org/officeDocument/2006/relationships/slide" Target="/ppt/slides/slide19.xml" Id="R988851a73a7441c4" /><Relationship Type="http://schemas.openxmlformats.org/officeDocument/2006/relationships/slide" Target="/ppt/slides/slide20.xml" Id="Rea9b7f2da1544fd5" /><Relationship Type="http://schemas.openxmlformats.org/officeDocument/2006/relationships/slide" Target="/ppt/slides/slide21.xml" Id="R264a38e2d5324e0d" /><Relationship Type="http://schemas.openxmlformats.org/officeDocument/2006/relationships/slide" Target="/ppt/slides/slide22.xml" Id="R1d856f85aae04f2c" /><Relationship Type="http://schemas.openxmlformats.org/officeDocument/2006/relationships/slide" Target="/ppt/slides/slide23.xml" Id="R68f336d253f143f8" /><Relationship Type="http://schemas.openxmlformats.org/officeDocument/2006/relationships/slide" Target="/ppt/slides/slide24.xml" Id="Rc9d925c858e94813" /><Relationship Type="http://schemas.openxmlformats.org/officeDocument/2006/relationships/slide" Target="/ppt/slides/slide25.xml" Id="R2e841b74558f455d" /><Relationship Type="http://schemas.openxmlformats.org/officeDocument/2006/relationships/slide" Target="/ppt/slides/slide26.xml" Id="Rcf7ebeb402974201" /><Relationship Type="http://schemas.openxmlformats.org/officeDocument/2006/relationships/slide" Target="/ppt/slides/slide27.xml" Id="Rf1f140721cdc44b0" /><Relationship Type="http://schemas.openxmlformats.org/officeDocument/2006/relationships/slide" Target="/ppt/slides/slide28.xml" Id="Rc65343fb589c4685" /><Relationship Type="http://schemas.openxmlformats.org/officeDocument/2006/relationships/slide" Target="/ppt/slides/slide29.xml" Id="R5611bfd74a7b4f7b" /><Relationship Type="http://schemas.openxmlformats.org/officeDocument/2006/relationships/slide" Target="/ppt/slides/slide30.xml" Id="R379bcf8280974a56" /><Relationship Type="http://schemas.openxmlformats.org/officeDocument/2006/relationships/slide" Target="/ppt/slides/slide31.xml" Id="R03509bb4b83f4f00" /><Relationship Type="http://schemas.openxmlformats.org/officeDocument/2006/relationships/slide" Target="/ppt/slides/slide32.xml" Id="R7f5c618528e84234" /><Relationship Type="http://schemas.openxmlformats.org/officeDocument/2006/relationships/slide" Target="/ppt/slides/slide33.xml" Id="R117871952d8a41a2" /><Relationship Type="http://schemas.openxmlformats.org/officeDocument/2006/relationships/slide" Target="/ppt/slides/slide34.xml" Id="R2917e5f56f6e46c1" /><Relationship Type="http://schemas.openxmlformats.org/officeDocument/2006/relationships/slide" Target="/ppt/slides/slide35.xml" Id="Ra9a4083c681c4732" /><Relationship Type="http://schemas.openxmlformats.org/officeDocument/2006/relationships/slide" Target="/ppt/slides/slide36.xml" Id="Rae18ea6c21a345b2" /><Relationship Type="http://schemas.openxmlformats.org/officeDocument/2006/relationships/slide" Target="/ppt/slides/slide37.xml" Id="R8a666d325e1641c8" /><Relationship Type="http://schemas.openxmlformats.org/officeDocument/2006/relationships/slide" Target="/ppt/slides/slide38.xml" Id="R9eee1e9bc4964a17" /><Relationship Type="http://schemas.openxmlformats.org/officeDocument/2006/relationships/slide" Target="/ppt/slides/slide39.xml" Id="R0e4a00b7248046d9" /><Relationship Type="http://schemas.openxmlformats.org/officeDocument/2006/relationships/slide" Target="/ppt/slides/slide40.xml" Id="R27865d3bbc194cac" /><Relationship Type="http://schemas.openxmlformats.org/officeDocument/2006/relationships/slide" Target="/ppt/slides/slide41.xml" Id="R00effd03163c4f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4cd3bbd61340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b697d39a33463a" /><Relationship Type="http://schemas.openxmlformats.org/officeDocument/2006/relationships/notesMaster" Target="/ppt/notesMasters/notesMaster1.xml" Id="R448b87c2cd644a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6fe77865c749c7" /><Relationship Type="http://schemas.openxmlformats.org/officeDocument/2006/relationships/notesMaster" Target="/ppt/notesMasters/notesMaster1.xml" Id="R0b798b81c7b64f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1f1c1da09441c9" /><Relationship Type="http://schemas.openxmlformats.org/officeDocument/2006/relationships/notesMaster" Target="/ppt/notesMasters/notesMaster1.xml" Id="R5e466705437b44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8a0174b0594687" /><Relationship Type="http://schemas.openxmlformats.org/officeDocument/2006/relationships/notesMaster" Target="/ppt/notesMasters/notesMaster1.xml" Id="Reff6938c679a46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e11ab32c974dde" /><Relationship Type="http://schemas.openxmlformats.org/officeDocument/2006/relationships/notesMaster" Target="/ppt/notesMasters/notesMaster1.xml" Id="R1458e9d12bd844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73fc838c624eff" /><Relationship Type="http://schemas.openxmlformats.org/officeDocument/2006/relationships/notesMaster" Target="/ppt/notesMasters/notesMaster1.xml" Id="R8b853c9bbfd445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2e2d91c287467e" /><Relationship Type="http://schemas.openxmlformats.org/officeDocument/2006/relationships/notesMaster" Target="/ppt/notesMasters/notesMaster1.xml" Id="R7125d623a2ec43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cc707e7944423a" /><Relationship Type="http://schemas.openxmlformats.org/officeDocument/2006/relationships/notesMaster" Target="/ppt/notesMasters/notesMaster1.xml" Id="Rbbef6951f1124a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27375e63bc4c48" /><Relationship Type="http://schemas.openxmlformats.org/officeDocument/2006/relationships/notesMaster" Target="/ppt/notesMasters/notesMaster1.xml" Id="R2b8543c3737e4b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c900557f8e44d7" /><Relationship Type="http://schemas.openxmlformats.org/officeDocument/2006/relationships/notesMaster" Target="/ppt/notesMasters/notesMaster1.xml" Id="R098b81c6f9dc48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5dec5954b1499e" /><Relationship Type="http://schemas.openxmlformats.org/officeDocument/2006/relationships/notesMaster" Target="/ppt/notesMasters/notesMaster1.xml" Id="R00d0a2bf2bb444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4f096c05c346e2" /><Relationship Type="http://schemas.openxmlformats.org/officeDocument/2006/relationships/notesMaster" Target="/ppt/notesMasters/notesMaster1.xml" Id="R063f7bd4db374b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99d84d10f447b2" /><Relationship Type="http://schemas.openxmlformats.org/officeDocument/2006/relationships/notesMaster" Target="/ppt/notesMasters/notesMaster1.xml" Id="R158f439a940244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7ac1a6ea5e4ffe" /><Relationship Type="http://schemas.openxmlformats.org/officeDocument/2006/relationships/notesMaster" Target="/ppt/notesMasters/notesMaster1.xml" Id="Raf1ff301890f47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4f90952c7e4040" /><Relationship Type="http://schemas.openxmlformats.org/officeDocument/2006/relationships/notesMaster" Target="/ppt/notesMasters/notesMaster1.xml" Id="R6c3a72f7a9694b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2777ab40ee48d4" /><Relationship Type="http://schemas.openxmlformats.org/officeDocument/2006/relationships/notesMaster" Target="/ppt/notesMasters/notesMaster1.xml" Id="R51380e4b77cc46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f77d4e0e94a4897" /><Relationship Type="http://schemas.openxmlformats.org/officeDocument/2006/relationships/notesMaster" Target="/ppt/notesMasters/notesMaster1.xml" Id="R1e6d454df4e44cf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e6a45ab324479e" /><Relationship Type="http://schemas.openxmlformats.org/officeDocument/2006/relationships/notesMaster" Target="/ppt/notesMasters/notesMaster1.xml" Id="R1614b54e427948c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db4c4bbc22481a" /><Relationship Type="http://schemas.openxmlformats.org/officeDocument/2006/relationships/notesMaster" Target="/ppt/notesMasters/notesMaster1.xml" Id="Rf786384d587f4f3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d7a34fd68d54008" /><Relationship Type="http://schemas.openxmlformats.org/officeDocument/2006/relationships/notesMaster" Target="/ppt/notesMasters/notesMaster1.xml" Id="Rec8a31968dcd447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2d4185800ef4697" /><Relationship Type="http://schemas.openxmlformats.org/officeDocument/2006/relationships/notesMaster" Target="/ppt/notesMasters/notesMaster1.xml" Id="R8fe8c25e729a45e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838c85cab4c441e" /><Relationship Type="http://schemas.openxmlformats.org/officeDocument/2006/relationships/notesMaster" Target="/ppt/notesMasters/notesMaster1.xml" Id="R13192c990df64b6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a23f4fe47b940ec" /><Relationship Type="http://schemas.openxmlformats.org/officeDocument/2006/relationships/notesMaster" Target="/ppt/notesMasters/notesMaster1.xml" Id="R1fe21be3d942443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1e56779f3f24499" /><Relationship Type="http://schemas.openxmlformats.org/officeDocument/2006/relationships/notesMaster" Target="/ppt/notesMasters/notesMaster1.xml" Id="R5a6eea537b05499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ec549b1d9834133" /><Relationship Type="http://schemas.openxmlformats.org/officeDocument/2006/relationships/notesMaster" Target="/ppt/notesMasters/notesMaster1.xml" Id="R13375bdbbb4048e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f839995bdbe4090" /><Relationship Type="http://schemas.openxmlformats.org/officeDocument/2006/relationships/notesMaster" Target="/ppt/notesMasters/notesMaster1.xml" Id="Rcc8bf6089502461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457fb06c2824f45" /><Relationship Type="http://schemas.openxmlformats.org/officeDocument/2006/relationships/notesMaster" Target="/ppt/notesMasters/notesMaster1.xml" Id="R35b0fb88ed05409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e202edf9f464ba7" /><Relationship Type="http://schemas.openxmlformats.org/officeDocument/2006/relationships/notesMaster" Target="/ppt/notesMasters/notesMaster1.xml" Id="Ree8d1c1d3e164d1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b0e5a3b900d43c7" /><Relationship Type="http://schemas.openxmlformats.org/officeDocument/2006/relationships/notesMaster" Target="/ppt/notesMasters/notesMaster1.xml" Id="R1e7b73ffec494c2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63618c64b724a0b" /><Relationship Type="http://schemas.openxmlformats.org/officeDocument/2006/relationships/notesMaster" Target="/ppt/notesMasters/notesMaster1.xml" Id="R89a9ea08279143d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007570bd551433c" /><Relationship Type="http://schemas.openxmlformats.org/officeDocument/2006/relationships/notesMaster" Target="/ppt/notesMasters/notesMaster1.xml" Id="R98a0d7abc36f4b3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9fbd76f1f214133" /><Relationship Type="http://schemas.openxmlformats.org/officeDocument/2006/relationships/notesMaster" Target="/ppt/notesMasters/notesMaster1.xml" Id="R9335f629f339448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e0d57adbbca4f3e" /><Relationship Type="http://schemas.openxmlformats.org/officeDocument/2006/relationships/notesMaster" Target="/ppt/notesMasters/notesMaster1.xml" Id="Ra4079e1a9923473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7dc602a2eb349b4" /><Relationship Type="http://schemas.openxmlformats.org/officeDocument/2006/relationships/notesMaster" Target="/ppt/notesMasters/notesMaster1.xml" Id="Rca10381c659a4d0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580a49904e4416c" /><Relationship Type="http://schemas.openxmlformats.org/officeDocument/2006/relationships/notesMaster" Target="/ppt/notesMasters/notesMaster1.xml" Id="R7536a18b7b35405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8ec676be7e147eb" /><Relationship Type="http://schemas.openxmlformats.org/officeDocument/2006/relationships/notesMaster" Target="/ppt/notesMasters/notesMaster1.xml" Id="Rffdacfadabe643c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67737aa99b04fa1" /><Relationship Type="http://schemas.openxmlformats.org/officeDocument/2006/relationships/notesMaster" Target="/ppt/notesMasters/notesMaster1.xml" Id="R956206491f394e6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7e12caf05b74759" /><Relationship Type="http://schemas.openxmlformats.org/officeDocument/2006/relationships/notesMaster" Target="/ppt/notesMasters/notesMaster1.xml" Id="R430b26fdab06437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aaa2cb4faf540e7" /><Relationship Type="http://schemas.openxmlformats.org/officeDocument/2006/relationships/notesMaster" Target="/ppt/notesMasters/notesMaster1.xml" Id="R3e4e5ec41d3644f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9474cf903524448" /><Relationship Type="http://schemas.openxmlformats.org/officeDocument/2006/relationships/notesMaster" Target="/ppt/notesMasters/notesMaster1.xml" Id="R1bb83af17c0b40e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8cda0331a274415" /><Relationship Type="http://schemas.openxmlformats.org/officeDocument/2006/relationships/notesMaster" Target="/ppt/notesMasters/notesMaster1.xml" Id="R74167d154ad140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asset: `../visuals/rendered/w01-10-opening-representation.png`; generation prompt and provenance are stored in `../visuals/src/w01-10-opening-representation.prompt.md`.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C++ Core Guidelines, “Interfaces”: https://isocpp.github.io/CppCoreGuidelines/CppCoreGuidelines#S-interfaces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Cloudflare Engineering, “How we saved 100 terabytes of memory by optimizing 1.1.1.1's DNS cache,” 27 August 2026: https://blog.cloudflare.com/dns-cache-memory-optimization-1111/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Cloudflare Engineering, “How we saved 100 terabytes of memory by optimizing 1.1.1.1's DNS cache,” 27 August 2026: https://blog.cloudflare.com/dns-cache-memory-optimization-1111/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Bjarne Stroustrup, “A History of C++: 1979–1991”: https://www.stroustrup.com/hopl2.pdf</a:t>
            </a:r>
          </a:p>
          <a:p xmlns:a="http://schemas.openxmlformats.org/drawingml/2006/main">
            <a:r>
              <a:t>- Bjarne Stroustrup, FAQ: https://www.stroustrup.com/bs_faq.html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GCC documentation, “Invoking GCC”: https://gcc.gnu.org/onlinedocs/gcc/Invoking-GCC.html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C++ working draft, sequence containers: https://eel.is/c++draft/sequences.general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cppreference, `std::vector`: https://en.cppreference.com/w/cpp/container/vector.html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C++ working draft, sequence containers: https://eel.is/c++draft/sequences.general</a:t>
            </a:r>
          </a:p>
          <a:p xmlns:a="http://schemas.openxmlformats.org/drawingml/2006/main">
            <a:r>
              <a:t>- cppreference, `std::vector`: https://en.cppreference.com/w/cpp/container/vector.html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C++ working draft, references: https://eel.is/c++draft/dcl.ref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C++ Core Guidelines, “Constants and immutability”: https://isocpp.github.io/CppCoreGuidelines/CppCoreGuidelines#S-const</a:t>
            </a:r>
          </a:p>
          <a:p xmlns:a="http://schemas.openxmlformats.org/drawingml/2006/main">
            <a:r>
              <a:t>- C++ Core Guidelines, “Functions”: https://isocpp.github.io/CppCoreGuidelines/CppCoreGuidelines#S-functions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C++ working draft, memory and objects: https://eel.is/c++draft/intro.object</a:t>
            </a:r>
          </a:p>
          <a:p xmlns:a="http://schemas.openxmlformats.org/drawingml/2006/main">
            <a:r>
              <a:t>- C++ working draft, references: https://eel.is/c++draft/dcl.ref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C++ working draft, memory and objects: https://eel.is/c++draft/intro.object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cppreference, `std::vector` complexity: https://en.cppreference.com/w/cpp/container/vector.html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Links shown on the slide are the authoritative references preserved in `../lecture.md`.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abe96031ea45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793135741d49fe" /><Relationship Type="http://schemas.openxmlformats.org/officeDocument/2006/relationships/slideLayout" Target="/ppt/slideLayouts/slideLayout1.xml" Id="Re754e0e3499647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54e0e3499647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b86b6bfb241dc" /><Relationship Type="http://schemas.openxmlformats.org/officeDocument/2006/relationships/image" Target="/ppt/media/image.png" Id="R74d1c8d7199347cf" /><Relationship Type="http://schemas.openxmlformats.org/officeDocument/2006/relationships/notesSlide" Target="/ppt/notesSlides/notesSlide1.xml" Id="R93bc637bb1844b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c4c96cc7e45c2" /><Relationship Type="http://schemas.openxmlformats.org/officeDocument/2006/relationships/image" Target="/ppt/media/image2.png" Id="Rd851451d57764c92" /><Relationship Type="http://schemas.openxmlformats.org/officeDocument/2006/relationships/notesSlide" Target="/ppt/notesSlides/notesSlide2.xml" Id="R14d1b3c78c3941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388b8347c4c9f" /><Relationship Type="http://schemas.openxmlformats.org/officeDocument/2006/relationships/image" Target="/ppt/media/image3.png" Id="R29c0967331894b1c" /><Relationship Type="http://schemas.openxmlformats.org/officeDocument/2006/relationships/notesSlide" Target="/ppt/notesSlides/notesSlide3.xml" Id="Rda0ac982085d44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a9e3e8bba4f6a" /><Relationship Type="http://schemas.openxmlformats.org/officeDocument/2006/relationships/image" Target="/ppt/media/image4.png" Id="Ra0825418af494350" /><Relationship Type="http://schemas.openxmlformats.org/officeDocument/2006/relationships/notesSlide" Target="/ppt/notesSlides/notesSlide4.xml" Id="R5234898db99c49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f9c2243b9422b" /><Relationship Type="http://schemas.openxmlformats.org/officeDocument/2006/relationships/image" Target="/ppt/media/image5.png" Id="R071ad24d731d40ab" /><Relationship Type="http://schemas.openxmlformats.org/officeDocument/2006/relationships/notesSlide" Target="/ppt/notesSlides/notesSlide5.xml" Id="Redeedeebfa6f45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56579b975414d" /><Relationship Type="http://schemas.openxmlformats.org/officeDocument/2006/relationships/image" Target="/ppt/media/image6.png" Id="R3c8d8c775fc046a6" /><Relationship Type="http://schemas.openxmlformats.org/officeDocument/2006/relationships/image" Target="/ppt/media/image7.png" Id="R4c6217bf713543d3" /><Relationship Type="http://schemas.openxmlformats.org/officeDocument/2006/relationships/notesSlide" Target="/ppt/notesSlides/notesSlide6.xml" Id="Ref6972efbddc4f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5454beb024488" /><Relationship Type="http://schemas.openxmlformats.org/officeDocument/2006/relationships/image" Target="/ppt/media/image8.png" Id="Red9f6e5504fb443e" /><Relationship Type="http://schemas.openxmlformats.org/officeDocument/2006/relationships/notesSlide" Target="/ppt/notesSlides/notesSlide7.xml" Id="R1b29cebf40c24a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e8a7d4ca74c5d" /><Relationship Type="http://schemas.openxmlformats.org/officeDocument/2006/relationships/image" Target="/ppt/media/image9.png" Id="R735da87558144b57" /><Relationship Type="http://schemas.openxmlformats.org/officeDocument/2006/relationships/image" Target="/ppt/media/image10.png" Id="R5911bab9c2434a58" /><Relationship Type="http://schemas.openxmlformats.org/officeDocument/2006/relationships/notesSlide" Target="/ppt/notesSlides/notesSlide8.xml" Id="R1437054a88f64d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c80cf7b314ba3" /><Relationship Type="http://schemas.openxmlformats.org/officeDocument/2006/relationships/image" Target="/ppt/media/image11.png" Id="Rbca42b2303724125" /><Relationship Type="http://schemas.openxmlformats.org/officeDocument/2006/relationships/notesSlide" Target="/ppt/notesSlides/notesSlide9.xml" Id="R3fa1c94bcd374f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782d87f5e42bd" /><Relationship Type="http://schemas.openxmlformats.org/officeDocument/2006/relationships/image" Target="/ppt/media/image12.png" Id="R635ba16f877149b7" /><Relationship Type="http://schemas.openxmlformats.org/officeDocument/2006/relationships/image" Target="/ppt/media/image13.png" Id="Rf92557aac8234556" /><Relationship Type="http://schemas.openxmlformats.org/officeDocument/2006/relationships/notesSlide" Target="/ppt/notesSlides/notesSlide10.xml" Id="R74cad003ed644b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1fcf3d5c04fb4" /><Relationship Type="http://schemas.openxmlformats.org/officeDocument/2006/relationships/image" Target="/ppt/media/image14.png" Id="R013912b0415b46ba" /><Relationship Type="http://schemas.openxmlformats.org/officeDocument/2006/relationships/notesSlide" Target="/ppt/notesSlides/notesSlide11.xml" Id="R935c79d9a55c4f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0647543e8427e" /><Relationship Type="http://schemas.openxmlformats.org/officeDocument/2006/relationships/image" Target="/ppt/media/image15.png" Id="R51ca976806bb4917" /><Relationship Type="http://schemas.openxmlformats.org/officeDocument/2006/relationships/notesSlide" Target="/ppt/notesSlides/notesSlide12.xml" Id="Rf87257c913dc4b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45a4f4fb042b6" /><Relationship Type="http://schemas.openxmlformats.org/officeDocument/2006/relationships/image" Target="/ppt/media/image16.png" Id="R740216e1d38c42c7" /><Relationship Type="http://schemas.openxmlformats.org/officeDocument/2006/relationships/notesSlide" Target="/ppt/notesSlides/notesSlide13.xml" Id="R652d1159d2cc49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a30334d914116" /><Relationship Type="http://schemas.openxmlformats.org/officeDocument/2006/relationships/image" Target="/ppt/media/image17.png" Id="R8678ef5e76f44511" /><Relationship Type="http://schemas.openxmlformats.org/officeDocument/2006/relationships/notesSlide" Target="/ppt/notesSlides/notesSlide14.xml" Id="R396e93181d1e40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e68fc40584134" /><Relationship Type="http://schemas.openxmlformats.org/officeDocument/2006/relationships/image" Target="/ppt/media/image18.png" Id="R19bf708b55fb41a1" /><Relationship Type="http://schemas.openxmlformats.org/officeDocument/2006/relationships/image" Target="/ppt/media/image19.png" Id="R2d4841c505b74964" /><Relationship Type="http://schemas.openxmlformats.org/officeDocument/2006/relationships/notesSlide" Target="/ppt/notesSlides/notesSlide15.xml" Id="R6a1dcb8b012f45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58d614d8b4e56" /><Relationship Type="http://schemas.openxmlformats.org/officeDocument/2006/relationships/image" Target="/ppt/media/image20.png" Id="Rf4c339a792bf4c9f" /><Relationship Type="http://schemas.openxmlformats.org/officeDocument/2006/relationships/notesSlide" Target="/ppt/notesSlides/notesSlide16.xml" Id="Rd4a8e47606514b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b130d49a54509" /><Relationship Type="http://schemas.openxmlformats.org/officeDocument/2006/relationships/image" Target="/ppt/media/image21.png" Id="R5af9e3a56cf74e1c" /><Relationship Type="http://schemas.openxmlformats.org/officeDocument/2006/relationships/notesSlide" Target="/ppt/notesSlides/notesSlide17.xml" Id="R25b1b569f2924ab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d4851b4ec43cd" /><Relationship Type="http://schemas.openxmlformats.org/officeDocument/2006/relationships/image" Target="/ppt/media/image22.png" Id="R724398bc82364402" /><Relationship Type="http://schemas.openxmlformats.org/officeDocument/2006/relationships/notesSlide" Target="/ppt/notesSlides/notesSlide18.xml" Id="Rf5ce43425cfa480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25b3bcd0c40c8" /><Relationship Type="http://schemas.openxmlformats.org/officeDocument/2006/relationships/image" Target="/ppt/media/image23.png" Id="R1f80601ff5b9458e" /><Relationship Type="http://schemas.openxmlformats.org/officeDocument/2006/relationships/image" Target="/ppt/media/image24.png" Id="R0517d3790e1b4bb4" /><Relationship Type="http://schemas.openxmlformats.org/officeDocument/2006/relationships/notesSlide" Target="/ppt/notesSlides/notesSlide19.xml" Id="Re7008d263fe54d0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684d74d4443fe" /><Relationship Type="http://schemas.openxmlformats.org/officeDocument/2006/relationships/image" Target="/ppt/media/image25.png" Id="R29602b8672cf47c8" /><Relationship Type="http://schemas.openxmlformats.org/officeDocument/2006/relationships/notesSlide" Target="/ppt/notesSlides/notesSlide20.xml" Id="Rd6407babaa9e48b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1a01ffeb841eb" /><Relationship Type="http://schemas.openxmlformats.org/officeDocument/2006/relationships/image" Target="/ppt/media/image26.png" Id="Rcf24fe0ddb594116" /><Relationship Type="http://schemas.openxmlformats.org/officeDocument/2006/relationships/notesSlide" Target="/ppt/notesSlides/notesSlide21.xml" Id="Rdbd1311227ef431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1c4a7bf91428a" /><Relationship Type="http://schemas.openxmlformats.org/officeDocument/2006/relationships/image" Target="/ppt/media/image27.png" Id="R7a39d0e508104f5a" /><Relationship Type="http://schemas.openxmlformats.org/officeDocument/2006/relationships/notesSlide" Target="/ppt/notesSlides/notesSlide22.xml" Id="Rf2a582afe6ab4c7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524cc7c104466" /><Relationship Type="http://schemas.openxmlformats.org/officeDocument/2006/relationships/image" Target="/ppt/media/image28.png" Id="Rdfaf4801fd06403b" /><Relationship Type="http://schemas.openxmlformats.org/officeDocument/2006/relationships/image" Target="/ppt/media/image29.png" Id="R30becd3843724d79" /><Relationship Type="http://schemas.openxmlformats.org/officeDocument/2006/relationships/notesSlide" Target="/ppt/notesSlides/notesSlide23.xml" Id="Re149317b5992493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675abd6f94585" /><Relationship Type="http://schemas.openxmlformats.org/officeDocument/2006/relationships/image" Target="/ppt/media/image30.png" Id="R4c74bff8ae044c35" /><Relationship Type="http://schemas.openxmlformats.org/officeDocument/2006/relationships/notesSlide" Target="/ppt/notesSlides/notesSlide24.xml" Id="R788abb64c3184f3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037ded250473a" /><Relationship Type="http://schemas.openxmlformats.org/officeDocument/2006/relationships/image" Target="/ppt/media/image31.png" Id="Rbc3ba07179a64690" /><Relationship Type="http://schemas.openxmlformats.org/officeDocument/2006/relationships/notesSlide" Target="/ppt/notesSlides/notesSlide25.xml" Id="R27c241ec8bde4fe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5b4b7cf7b42b1" /><Relationship Type="http://schemas.openxmlformats.org/officeDocument/2006/relationships/image" Target="/ppt/media/image32.png" Id="Rd0f7b2fb413b4ecf" /><Relationship Type="http://schemas.openxmlformats.org/officeDocument/2006/relationships/notesSlide" Target="/ppt/notesSlides/notesSlide26.xml" Id="Rf35d70f220594c3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22b64f18240ad" /><Relationship Type="http://schemas.openxmlformats.org/officeDocument/2006/relationships/image" Target="/ppt/media/image33.png" Id="R0dd506ba8ccc4ca6" /><Relationship Type="http://schemas.openxmlformats.org/officeDocument/2006/relationships/image" Target="/ppt/media/image34.png" Id="R803652a56bb249f8" /><Relationship Type="http://schemas.openxmlformats.org/officeDocument/2006/relationships/notesSlide" Target="/ppt/notesSlides/notesSlide27.xml" Id="R5c246f1284e34ec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d57690e964d43" /><Relationship Type="http://schemas.openxmlformats.org/officeDocument/2006/relationships/image" Target="/ppt/media/image35.png" Id="R19fc3dc4063c414b" /><Relationship Type="http://schemas.openxmlformats.org/officeDocument/2006/relationships/notesSlide" Target="/ppt/notesSlides/notesSlide28.xml" Id="Ra5a5c3cecc96450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a26835f0b4b5c" /><Relationship Type="http://schemas.openxmlformats.org/officeDocument/2006/relationships/image" Target="/ppt/media/image36.png" Id="Re7f052ac9636450c" /><Relationship Type="http://schemas.openxmlformats.org/officeDocument/2006/relationships/notesSlide" Target="/ppt/notesSlides/notesSlide29.xml" Id="Raea1db30e5d0446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0000e7a3e4843" /><Relationship Type="http://schemas.openxmlformats.org/officeDocument/2006/relationships/image" Target="/ppt/media/image37.png" Id="R1c8856f0826749e6" /><Relationship Type="http://schemas.openxmlformats.org/officeDocument/2006/relationships/notesSlide" Target="/ppt/notesSlides/notesSlide30.xml" Id="Rc809fbb402bb487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db8a3946c4965" /><Relationship Type="http://schemas.openxmlformats.org/officeDocument/2006/relationships/image" Target="/ppt/media/image38.png" Id="Ra7a7566f5d4a4940" /><Relationship Type="http://schemas.openxmlformats.org/officeDocument/2006/relationships/notesSlide" Target="/ppt/notesSlides/notesSlide31.xml" Id="R2819b0b433db40c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110aae26d4784" /><Relationship Type="http://schemas.openxmlformats.org/officeDocument/2006/relationships/image" Target="/ppt/media/image39.png" Id="Ra56d1bb28a784b05" /><Relationship Type="http://schemas.openxmlformats.org/officeDocument/2006/relationships/notesSlide" Target="/ppt/notesSlides/notesSlide32.xml" Id="Rb726d5bf9a8a400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18f4dec7141d8" /><Relationship Type="http://schemas.openxmlformats.org/officeDocument/2006/relationships/image" Target="/ppt/media/image40.png" Id="Rfe2f7f6d989a4403" /><Relationship Type="http://schemas.openxmlformats.org/officeDocument/2006/relationships/notesSlide" Target="/ppt/notesSlides/notesSlide33.xml" Id="R556939e2630940e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3c29f2f7f43cd" /><Relationship Type="http://schemas.openxmlformats.org/officeDocument/2006/relationships/image" Target="/ppt/media/image41.png" Id="R509041dfb88b4977" /><Relationship Type="http://schemas.openxmlformats.org/officeDocument/2006/relationships/notesSlide" Target="/ppt/notesSlides/notesSlide34.xml" Id="R687b2fcd7dbb4d2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168eacf124cdc" /><Relationship Type="http://schemas.openxmlformats.org/officeDocument/2006/relationships/image" Target="/ppt/media/image42.png" Id="R8df5782840824acd" /><Relationship Type="http://schemas.openxmlformats.org/officeDocument/2006/relationships/image" Target="/ppt/media/image43.png" Id="R651592fd2e624eb7" /><Relationship Type="http://schemas.openxmlformats.org/officeDocument/2006/relationships/notesSlide" Target="/ppt/notesSlides/notesSlide35.xml" Id="R873141484abc431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9b1e950944d9b" /><Relationship Type="http://schemas.openxmlformats.org/officeDocument/2006/relationships/image" Target="/ppt/media/image44.png" Id="R3774b82f14274b9d" /><Relationship Type="http://schemas.openxmlformats.org/officeDocument/2006/relationships/notesSlide" Target="/ppt/notesSlides/notesSlide36.xml" Id="Ref4e82000e2946e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dbfe1a4104540" /><Relationship Type="http://schemas.openxmlformats.org/officeDocument/2006/relationships/image" Target="/ppt/media/image45.png" Id="R1b93895a348b4290" /><Relationship Type="http://schemas.openxmlformats.org/officeDocument/2006/relationships/image" Target="/ppt/media/image46.png" Id="R90b8cbbbbf874193" /><Relationship Type="http://schemas.openxmlformats.org/officeDocument/2006/relationships/notesSlide" Target="/ppt/notesSlides/notesSlide37.xml" Id="Rc475796452be427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114402ef74ed8" /><Relationship Type="http://schemas.openxmlformats.org/officeDocument/2006/relationships/image" Target="/ppt/media/image47.png" Id="Re8198c529006441c" /><Relationship Type="http://schemas.openxmlformats.org/officeDocument/2006/relationships/notesSlide" Target="/ppt/notesSlides/notesSlide38.xml" Id="R3b4b221212b8429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5214ba7344dfe" /><Relationship Type="http://schemas.openxmlformats.org/officeDocument/2006/relationships/image" Target="/ppt/media/image48.png" Id="R4d73073ae8aa45d7" /><Relationship Type="http://schemas.openxmlformats.org/officeDocument/2006/relationships/notesSlide" Target="/ppt/notesSlides/notesSlide39.xml" Id="R7a15ec719e7d4c5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895d69ddd4029" /><Relationship Type="http://schemas.openxmlformats.org/officeDocument/2006/relationships/image" Target="/ppt/media/image49.png" Id="R769fe2777e734ccc" /><Relationship Type="http://schemas.openxmlformats.org/officeDocument/2006/relationships/notesSlide" Target="/ppt/notesSlides/notesSlide40.xml" Id="Rdf78f93800e8498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8245215294bb5" /><Relationship Type="http://schemas.openxmlformats.org/officeDocument/2006/relationships/image" Target="/ppt/media/image50.png" Id="Rc675be95c1524e7b" /><Relationship Type="http://schemas.openxmlformats.org/officeDocument/2006/relationships/notesSlide" Target="/ppt/notesSlides/notesSlide41.xml" Id="R66bf97e2532747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1c8d7199347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-field">
            <a:extLst xmlns:a="http://schemas.openxmlformats.org/drawingml/2006/main">
              <a:ext uri="{FF2B5EF4-FFF2-40B4-BE49-F238E27FC236}">
                <a16:creationId xmlns:a16="http://schemas.microsoft.com/office/drawing/2014/main" id="{552442EA-E5B0-4A63-88B5-82D8918C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BD8927-2F55-42AA-8948-D3CCB61B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From General Programming to C++ Data Structures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1E4EA3E-B4AD-4B9D-BC2E-542C5516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Week 1 · BS0013 Data Structures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Riga Business School · Riga Technical University</a:t>
            </a:r>
          </a:p>
        </p:txBody>
      </p:sp>
    </p:spTree>
    <p:extLst>
      <p:ext uri="{BB962C8B-B14F-4D97-AF65-F5344CB8AC3E}">
        <p14:creationId xmlns:p14="http://schemas.microsoft.com/office/powerpoint/2010/main" val="1048148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1451d57764c9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hook-band">
            <a:extLst xmlns:a="http://schemas.openxmlformats.org/drawingml/2006/main">
              <a:ext uri="{FF2B5EF4-FFF2-40B4-BE49-F238E27FC236}">
                <a16:creationId xmlns:a16="http://schemas.microsoft.com/office/drawing/2014/main" id="{206D9660-33EA-42BA-B5C9-DDC18A8F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BCA71D-4510-4081-90EF-7E7E1D5E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Same data. Different structure. Different cost.</a:t>
            </a:r>
          </a:p>
        </p:txBody>
      </p:sp>
    </p:spTree>
    <p:extLst>
      <p:ext uri="{BB962C8B-B14F-4D97-AF65-F5344CB8AC3E}">
        <p14:creationId xmlns:p14="http://schemas.microsoft.com/office/powerpoint/2010/main" val="6066986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0967331894b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70E73C9-9D35-4B3B-8C8E-7C7BB140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Today’s target is an engineering mental model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4AC8EC5-8ACA-482C-9FDF-9F185BE5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105537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By the end, you should be able to: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separate an ADT contract from its implementation;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explain why the workload influences representation choice;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trace C++ values, copies, references, and mutation;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connect representation to invariants and operation costs.</a:t>
            </a:r>
          </a:p>
        </p:txBody>
      </p:sp>
    </p:spTree>
    <p:extLst>
      <p:ext uri="{BB962C8B-B14F-4D97-AF65-F5344CB8AC3E}">
        <p14:creationId xmlns:p14="http://schemas.microsoft.com/office/powerpoint/2010/main" val="3141983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25418af4943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C6C76-2B29-4174-8D8D-4D796763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One million values is not yet a design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AB095A0-985C-40A1-89BB-18B8545E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105537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What must the program do most often?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access element number 742,381;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append new elements;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insert at the beginning;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test whether a value exists;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retrieve the smallest value;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maintain sorted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Different workloads reward different representations.</a:t>
            </a:r>
          </a:p>
        </p:txBody>
      </p:sp>
    </p:spTree>
    <p:extLst>
      <p:ext uri="{BB962C8B-B14F-4D97-AF65-F5344CB8AC3E}">
        <p14:creationId xmlns:p14="http://schemas.microsoft.com/office/powerpoint/2010/main" val="11453273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ad24d731d40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039C2C-B56C-42B0-9E84-0535D7C6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9F2626"/>
                </a:solidFill>
              </a:defRPr>
            </a:pPr>
            <a:r>
              <a:rPr sz="3750" b="1">
                <a:solidFill>
                  <a:srgbClr val="9F2626"/>
                </a:solidFill>
              </a:rPr>
              <a:t>Why can identical data have different costs?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B3BC9BC-606B-4EF3-ADC1-E7D4BDB4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105537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Representation idea   •   Access element 742,381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Directly indexed storage   •   Calculate its location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Chain of linked elements   •   Follow links until reaching 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The logical values may be identical. The path to the value is not.</a:t>
            </a:r>
          </a:p>
        </p:txBody>
      </p:sp>
    </p:spTree>
    <p:extLst>
      <p:ext uri="{BB962C8B-B14F-4D97-AF65-F5344CB8AC3E}">
        <p14:creationId xmlns:p14="http://schemas.microsoft.com/office/powerpoint/2010/main" val="13274240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d8c775fc046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FA60D5B-9602-4A37-9192-7C23E162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Data-structure choice is a trade-off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217bf713543d3"/>
          <a:stretch xmlns:a="http://schemas.openxmlformats.org/drawingml/2006/main"/>
        </p:blipFill>
        <p:spPr>
          <a:xfrm xmlns:a="http://schemas.openxmlformats.org/drawingml/2006/main">
            <a:off x="1095375" y="1190625"/>
            <a:ext cx="10001250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3859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f6e5504fb44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E204960-268F-404F-ACAF-5CC8DC56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9F2626"/>
                </a:solidFill>
              </a:defRPr>
            </a:pPr>
            <a:r>
              <a:rPr sz="3750" b="1">
                <a:solidFill>
                  <a:srgbClr val="9F2626"/>
                </a:solidFill>
              </a:rPr>
              <a:t>Start with operations, not names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15E5207-587D-4D01-B19F-C0DBCF2A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105537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What matters most in each situation?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1. A music player asks for the next song.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2. Triage repeatedly asks for the most urgent patient.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3. A spell-checker asks whether a word exists.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4. Navigation asks which roads leave an intersection.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5. An editor inserts and removes material from a sequence.</a:t>
            </a:r>
          </a:p>
        </p:txBody>
      </p:sp>
    </p:spTree>
    <p:extLst>
      <p:ext uri="{BB962C8B-B14F-4D97-AF65-F5344CB8AC3E}">
        <p14:creationId xmlns:p14="http://schemas.microsoft.com/office/powerpoint/2010/main" val="9891022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da87558144b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E42931-D4EA-44C5-8770-3BEEE7A1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ADT promises; data structures realize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1bab9c2434a58"/>
          <a:stretch xmlns:a="http://schemas.openxmlformats.org/drawingml/2006/main"/>
        </p:blipFill>
        <p:spPr>
          <a:xfrm xmlns:a="http://schemas.openxmlformats.org/drawingml/2006/main">
            <a:off x="1797217" y="1190625"/>
            <a:ext cx="8597566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45875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42b23037241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8335F6-F845-4DB8-A4BC-779A529A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One interface can hide several representations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CA4EB8C8-170E-4F9D-B965-A3221FA5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A stack promises operations such as:</a:t>
            </a:r>
          </a:p>
        </p:txBody>
      </p:sp>
      <p:sp>
        <p:nvSpPr>
          <p:cNvPr id="4" name="code-1-frame">
            <a:extLst xmlns:a="http://schemas.openxmlformats.org/drawingml/2006/main">
              <a:ext uri="{FF2B5EF4-FFF2-40B4-BE49-F238E27FC236}">
                <a16:creationId xmlns:a16="http://schemas.microsoft.com/office/drawing/2014/main" id="{0A125C65-F656-46D0-8824-058C5D26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10515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5" name="code-1-text">
            <a:extLst xmlns:a="http://schemas.openxmlformats.org/drawingml/2006/main">
              <a:ext uri="{FF2B5EF4-FFF2-40B4-BE49-F238E27FC236}">
                <a16:creationId xmlns:a16="http://schemas.microsoft.com/office/drawing/2014/main" id="{15CE8ABC-B5D9-488C-971B-5640FD04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1017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push(value)   pop()   top()   empty()</a:t>
            </a:r>
          </a:p>
        </p:txBody>
      </p:sp>
      <p:sp>
        <p:nvSpPr>
          <p:cNvPr id="6" name="body-2">
            <a:extLst xmlns:a="http://schemas.openxmlformats.org/drawingml/2006/main">
              <a:ext uri="{FF2B5EF4-FFF2-40B4-BE49-F238E27FC236}">
                <a16:creationId xmlns:a16="http://schemas.microsoft.com/office/drawing/2014/main" id="{8AD59492-A994-462B-B966-C6B40233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10591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It could be represented by: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• a fixed array;</a:t>
            </a:r>
          </a:p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• a dynamic array;</a:t>
            </a:r>
          </a:p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• linked nodes.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Client code may stay unchanged while performance and memory behaviour change.</a:t>
            </a:r>
          </a:p>
        </p:txBody>
      </p:sp>
    </p:spTree>
    <p:extLst>
      <p:ext uri="{BB962C8B-B14F-4D97-AF65-F5344CB8AC3E}">
        <p14:creationId xmlns:p14="http://schemas.microsoft.com/office/powerpoint/2010/main" val="12810157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ba16f877149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0579EC-E322-4F52-9105-3BAD8197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Representation matters at production scale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557aac8234556"/>
          <a:stretch xmlns:a="http://schemas.openxmlformats.org/drawingml/2006/main"/>
        </p:blipFill>
        <p:spPr>
          <a:xfrm xmlns:a="http://schemas.openxmlformats.org/drawingml/2006/main">
            <a:off x="1797217" y="1190625"/>
            <a:ext cx="8597566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4977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912b0415b46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909AD1A-AB0D-48A0-9336-4A939ED6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Pay only for flexibility the workload needs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47E5887-BEA5-468D-9C00-3D556018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105537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Growable storage   •   Fixed-size storage after construction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pointer + length + capacity   •   pointer + length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may reserve unused space   •   no spare growth capacity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supports future growth   •   smaller immutable representation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Cloudflare’s cached DNS responses did not need to grow after insertion.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A growable vector is not bad. It is unnecessary overhead when growth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1098250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a976806bb49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ivider-accent">
            <a:extLst xmlns:a="http://schemas.openxmlformats.org/drawingml/2006/main">
              <a:ext uri="{FF2B5EF4-FFF2-40B4-BE49-F238E27FC236}">
                <a16:creationId xmlns:a16="http://schemas.microsoft.com/office/drawing/2014/main" id="{311A4852-2613-4365-B6DB-619C1659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33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B6FAED-3E7B-40DE-ADAD-793E89EB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02020"/>
                </a:solidFill>
              </a:defRPr>
            </a:pPr>
            <a:r>
              <a:rPr sz="4350" b="1">
                <a:solidFill>
                  <a:srgbClr val="202020"/>
                </a:solidFill>
              </a:rPr>
              <a:t>C++ makes representation visible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10F97B0-52D0-40EA-BD3E-68408DA8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55555"/>
                </a:solidFill>
              </a:defRPr>
            </a:pPr>
            <a:r>
              <a:rPr sz="2250">
                <a:solidFill>
                  <a:srgbClr val="555555"/>
                </a:solidFill>
              </a:rPr>
              <a:t>High-level abstraction without hiding every implementation cost</a:t>
            </a:r>
          </a:p>
        </p:txBody>
      </p:sp>
    </p:spTree>
    <p:extLst>
      <p:ext uri="{BB962C8B-B14F-4D97-AF65-F5344CB8AC3E}">
        <p14:creationId xmlns:p14="http://schemas.microsoft.com/office/powerpoint/2010/main" val="126867747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216e1d38c42c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08628A4-A531-4E9F-8994-CD43EB7A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C++ began with a systems-design tension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AE1B641F-1A74-453C-906D-950B15DD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Stroustrup’s problem was practical: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“How can programmers build stronger abstractions without giving up C-like efficiency and systems control?”</a:t>
            </a:r>
          </a:p>
        </p:txBody>
      </p:sp>
      <p:sp>
        <p:nvSpPr>
          <p:cNvPr id="4" name="code-1-frame">
            <a:extLst xmlns:a="http://schemas.openxmlformats.org/drawingml/2006/main">
              <a:ext uri="{FF2B5EF4-FFF2-40B4-BE49-F238E27FC236}">
                <a16:creationId xmlns:a16="http://schemas.microsoft.com/office/drawing/2014/main" id="{34FD877F-B626-4079-BA93-B139C56E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0515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5" name="code-1-text">
            <a:extLst xmlns:a="http://schemas.openxmlformats.org/drawingml/2006/main">
              <a:ext uri="{FF2B5EF4-FFF2-40B4-BE49-F238E27FC236}">
                <a16:creationId xmlns:a16="http://schemas.microsoft.com/office/drawing/2014/main" id="{B542779F-04A7-4646-9405-ECCA9D83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1017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1979 C with Classes → 1983 C++ → 1998 ISO standard</a:t>
            </a:r>
          </a:p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                     → 2011 modern C++ → C++20 in this course</a:t>
            </a:r>
          </a:p>
        </p:txBody>
      </p:sp>
      <p:sp>
        <p:nvSpPr>
          <p:cNvPr id="6" name="body-2">
            <a:extLst xmlns:a="http://schemas.openxmlformats.org/drawingml/2006/main">
              <a:ext uri="{FF2B5EF4-FFF2-40B4-BE49-F238E27FC236}">
                <a16:creationId xmlns:a16="http://schemas.microsoft.com/office/drawing/2014/main" id="{ECBDB6D9-C42B-4D22-8807-1062D88A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059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Simula contributed abstraction ideas; C contributed efficiency and low-level control.</a:t>
            </a:r>
          </a:p>
        </p:txBody>
      </p:sp>
    </p:spTree>
    <p:extLst>
      <p:ext uri="{BB962C8B-B14F-4D97-AF65-F5344CB8AC3E}">
        <p14:creationId xmlns:p14="http://schemas.microsoft.com/office/powerpoint/2010/main" val="62493541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8ef5e76f445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E44082-9841-489B-9C43-484FF0F9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In C++, we can inspect both levels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96BFB25-6187-4246-B163-C6708647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105537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We can treat std::vector as a container and still ask: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Are its elements contiguous?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When is storage reallocated?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When are values copied or moved?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Which references remain valid?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What does an operation cost?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Pedagogical implementation: expose mechanics.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Production engineering: normally prefer tested standard containers.</a:t>
            </a:r>
          </a:p>
        </p:txBody>
      </p:sp>
    </p:spTree>
    <p:extLst>
      <p:ext uri="{BB962C8B-B14F-4D97-AF65-F5344CB8AC3E}">
        <p14:creationId xmlns:p14="http://schemas.microsoft.com/office/powerpoint/2010/main" val="208361450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f708b55fb41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BEABA03-7F11-4A66-BD28-D04DC8F1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A C++ program has distinct build stages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841c505b74964"/>
          <a:stretch xmlns:a="http://schemas.openxmlformats.org/drawingml/2006/main"/>
        </p:blipFill>
        <p:spPr>
          <a:xfrm xmlns:a="http://schemas.openxmlformats.org/drawingml/2006/main">
            <a:off x="826524" y="1190625"/>
            <a:ext cx="10538952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90032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339a792bf4c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42B96B7-9301-48AD-A931-06AFB4C6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9F2626"/>
                </a:solidFill>
              </a:defRPr>
            </a:pPr>
            <a:r>
              <a:rPr sz="3750" b="1">
                <a:solidFill>
                  <a:srgbClr val="9F2626"/>
                </a:solidFill>
              </a:rPr>
              <a:t>Predict when each problem is discovered</a:t>
            </a:r>
          </a:p>
        </p:txBody>
      </p:sp>
      <p:sp>
        <p:nvSpPr>
          <p:cNvPr id="3" name="code-1-frame">
            <a:extLst xmlns:a="http://schemas.openxmlformats.org/drawingml/2006/main">
              <a:ext uri="{FF2B5EF4-FFF2-40B4-BE49-F238E27FC236}">
                <a16:creationId xmlns:a16="http://schemas.microsoft.com/office/drawing/2014/main" id="{9C2ABFE1-EEBD-4B23-A71F-CCA3D896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85875"/>
            <a:ext cx="10515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4" name="code-1-text">
            <a:extLst xmlns:a="http://schemas.openxmlformats.org/drawingml/2006/main">
              <a:ext uri="{FF2B5EF4-FFF2-40B4-BE49-F238E27FC236}">
                <a16:creationId xmlns:a16="http://schemas.microsoft.com/office/drawing/2014/main" id="{BDA2AA34-BD37-425E-8CE0-8434A2F7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19225"/>
            <a:ext cx="1017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int number = "Riga";</a:t>
            </a:r>
          </a:p>
        </p:txBody>
      </p:sp>
      <p:sp>
        <p:nvSpPr>
          <p:cNvPr id="5" name="code-2-frame">
            <a:extLst xmlns:a="http://schemas.openxmlformats.org/drawingml/2006/main">
              <a:ext uri="{FF2B5EF4-FFF2-40B4-BE49-F238E27FC236}">
                <a16:creationId xmlns:a16="http://schemas.microsoft.com/office/drawing/2014/main" id="{29BDADF5-EDC1-436A-A864-FCF2771B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10515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6" name="code-2-text">
            <a:extLst xmlns:a="http://schemas.openxmlformats.org/drawingml/2006/main">
              <a:ext uri="{FF2B5EF4-FFF2-40B4-BE49-F238E27FC236}">
                <a16:creationId xmlns:a16="http://schemas.microsoft.com/office/drawing/2014/main" id="{32F6924A-2325-4511-86DA-6A29A294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14575"/>
            <a:ext cx="1017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std::cout &lt;&lt; total;  // total was never declared</a:t>
            </a:r>
          </a:p>
        </p:txBody>
      </p:sp>
      <p:sp>
        <p:nvSpPr>
          <p:cNvPr id="7" name="code-3-frame">
            <a:extLst xmlns:a="http://schemas.openxmlformats.org/drawingml/2006/main">
              <a:ext uri="{FF2B5EF4-FFF2-40B4-BE49-F238E27FC236}">
                <a16:creationId xmlns:a16="http://schemas.microsoft.com/office/drawing/2014/main" id="{E69AF678-3EA2-4480-BE53-56D60F51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10515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8" name="code-3-text">
            <a:extLst xmlns:a="http://schemas.openxmlformats.org/drawingml/2006/main">
              <a:ext uri="{FF2B5EF4-FFF2-40B4-BE49-F238E27FC236}">
                <a16:creationId xmlns:a16="http://schemas.microsoft.com/office/drawing/2014/main" id="{70186BE9-B256-4718-A15C-F7675D59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9925"/>
            <a:ext cx="1017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int divide(int a, int b) { return a / b; }</a:t>
            </a:r>
          </a:p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// later: divide(10, 0)</a:t>
            </a:r>
          </a:p>
        </p:txBody>
      </p:sp>
      <p:sp>
        <p:nvSpPr>
          <p:cNvPr id="9" name="body-1">
            <a:extLst xmlns:a="http://schemas.openxmlformats.org/drawingml/2006/main">
              <a:ext uri="{FF2B5EF4-FFF2-40B4-BE49-F238E27FC236}">
                <a16:creationId xmlns:a16="http://schemas.microsoft.com/office/drawing/2014/main" id="{FC580A6D-4D44-4C5B-AD3C-16787CB6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1059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Compile time, link time, runtime, or logical error?</a:t>
            </a:r>
          </a:p>
        </p:txBody>
      </p:sp>
    </p:spTree>
    <p:extLst>
      <p:ext uri="{BB962C8B-B14F-4D97-AF65-F5344CB8AC3E}">
        <p14:creationId xmlns:p14="http://schemas.microsoft.com/office/powerpoint/2010/main" val="158225601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9e3a56cf74e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A813D8A-92A8-44F9-876D-E43B106A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Static types are representation promises</a:t>
            </a:r>
          </a:p>
        </p:txBody>
      </p:sp>
      <p:sp>
        <p:nvSpPr>
          <p:cNvPr id="3" name="code-1-frame">
            <a:extLst xmlns:a="http://schemas.openxmlformats.org/drawingml/2006/main">
              <a:ext uri="{FF2B5EF4-FFF2-40B4-BE49-F238E27FC236}">
                <a16:creationId xmlns:a16="http://schemas.microsoft.com/office/drawing/2014/main" id="{A0642EBE-0CB0-4233-8509-DAA42E59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85875"/>
            <a:ext cx="10515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4" name="code-1-text">
            <a:extLst xmlns:a="http://schemas.openxmlformats.org/drawingml/2006/main">
              <a:ext uri="{FF2B5EF4-FFF2-40B4-BE49-F238E27FC236}">
                <a16:creationId xmlns:a16="http://schemas.microsoft.com/office/drawing/2014/main" id="{4AAB277D-D1C2-47A2-B553-962D122B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19225"/>
            <a:ext cx="1017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std::vector&lt;int&gt; values;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9BC2E53E-E455-4E24-AAEF-955E1053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105918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This declaration promises: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“Every element stored in this vector is an int.”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Compare:</a:t>
            </a:r>
          </a:p>
        </p:txBody>
      </p:sp>
      <p:sp>
        <p:nvSpPr>
          <p:cNvPr id="6" name="code-2-frame">
            <a:extLst xmlns:a="http://schemas.openxmlformats.org/drawingml/2006/main">
              <a:ext uri="{FF2B5EF4-FFF2-40B4-BE49-F238E27FC236}">
                <a16:creationId xmlns:a16="http://schemas.microsoft.com/office/drawing/2014/main" id="{E3C5131E-DEAD-45AD-A9E6-81D5F45D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0515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7" name="code-2-text">
            <a:extLst xmlns:a="http://schemas.openxmlformats.org/drawingml/2006/main">
              <a:ext uri="{FF2B5EF4-FFF2-40B4-BE49-F238E27FC236}">
                <a16:creationId xmlns:a16="http://schemas.microsoft.com/office/drawing/2014/main" id="{C003559F-FCAC-4315-9060-5C07A19E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6200"/>
            <a:ext cx="1017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values = [42, "Riga", 3.14, True]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AB125016-92A5-4769-80E7-60CE7BDF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059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Neither model is universally better. They support different forms of reasoning and flexibility.</a:t>
            </a:r>
          </a:p>
        </p:txBody>
      </p:sp>
    </p:spTree>
    <p:extLst>
      <p:ext uri="{BB962C8B-B14F-4D97-AF65-F5344CB8AC3E}">
        <p14:creationId xmlns:p14="http://schemas.microsoft.com/office/powerpoint/2010/main" val="190590810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398bc823644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1DD1498-1DC0-4B92-9BEA-FD5C80C6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std::vector is our first concrete container</a:t>
            </a:r>
          </a:p>
        </p:txBody>
      </p:sp>
      <p:sp>
        <p:nvSpPr>
          <p:cNvPr id="3" name="code-1-frame">
            <a:extLst xmlns:a="http://schemas.openxmlformats.org/drawingml/2006/main">
              <a:ext uri="{FF2B5EF4-FFF2-40B4-BE49-F238E27FC236}">
                <a16:creationId xmlns:a16="http://schemas.microsoft.com/office/drawing/2014/main" id="{6F6DD4AE-9EFE-4698-980F-1FF75868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85875"/>
            <a:ext cx="105156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4" name="code-1-text">
            <a:extLst xmlns:a="http://schemas.openxmlformats.org/drawingml/2006/main">
              <a:ext uri="{FF2B5EF4-FFF2-40B4-BE49-F238E27FC236}">
                <a16:creationId xmlns:a16="http://schemas.microsoft.com/office/drawing/2014/main" id="{80A7A6E8-83B2-46EE-8B41-EB590122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19225"/>
            <a:ext cx="10172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# Python</a:t>
            </a:r>
          </a:p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values = [10, 20, 30]</a:t>
            </a:r>
          </a:p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values.append(40)</a:t>
            </a:r>
          </a:p>
        </p:txBody>
      </p:sp>
      <p:sp>
        <p:nvSpPr>
          <p:cNvPr id="5" name="code-2-frame">
            <a:extLst xmlns:a="http://schemas.openxmlformats.org/drawingml/2006/main">
              <a:ext uri="{FF2B5EF4-FFF2-40B4-BE49-F238E27FC236}">
                <a16:creationId xmlns:a16="http://schemas.microsoft.com/office/drawing/2014/main" id="{FC87A1D1-B414-49EC-99AA-4A8EB97B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5156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6" name="code-2-text">
            <a:extLst xmlns:a="http://schemas.openxmlformats.org/drawingml/2006/main">
              <a:ext uri="{FF2B5EF4-FFF2-40B4-BE49-F238E27FC236}">
                <a16:creationId xmlns:a16="http://schemas.microsoft.com/office/drawing/2014/main" id="{A50A4A9F-D888-4256-8219-CD8E323B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10172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// C++</a:t>
            </a:r>
          </a:p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std::vector&lt;int&gt; values{10, 20, 30};</a:t>
            </a:r>
          </a:p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values.push_back(40);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F84677FF-5351-4EDC-961B-2AE939FF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4725"/>
            <a:ext cx="1059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Similar intent does not imply identical representation or semantics.</a:t>
            </a:r>
          </a:p>
        </p:txBody>
      </p:sp>
    </p:spTree>
    <p:extLst>
      <p:ext uri="{BB962C8B-B14F-4D97-AF65-F5344CB8AC3E}">
        <p14:creationId xmlns:p14="http://schemas.microsoft.com/office/powerpoint/2010/main" val="3213884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0601ff5b945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0ED4A17-283F-4235-86DD-11D4819D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Contiguous storage enables indexed access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7d3790e1b4bb4"/>
          <a:stretch xmlns:a="http://schemas.openxmlformats.org/drawingml/2006/main"/>
        </p:blipFill>
        <p:spPr>
          <a:xfrm xmlns:a="http://schemas.openxmlformats.org/drawingml/2006/main">
            <a:off x="1069731" y="1190625"/>
            <a:ext cx="10052538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88537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02b8672cf47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A5193F-8399-4E81-86B1-610CC4F2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9F2626"/>
                </a:solidFill>
              </a:defRPr>
            </a:pPr>
            <a:r>
              <a:rPr sz="3750" b="1">
                <a:solidFill>
                  <a:srgbClr val="9F2626"/>
                </a:solidFill>
              </a:rPr>
              <a:t>Which vector operation looks expensive?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FCC6365-45F0-4AC3-9561-111B2C80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105537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read element 500;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change element 500;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add an element at the end;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insert an element at index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If elements occupy one contiguous region, inserting at the front may require moving every existing element.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Representation is already predicting cost.</a:t>
            </a:r>
          </a:p>
        </p:txBody>
      </p:sp>
    </p:spTree>
    <p:extLst>
      <p:ext uri="{BB962C8B-B14F-4D97-AF65-F5344CB8AC3E}">
        <p14:creationId xmlns:p14="http://schemas.microsoft.com/office/powerpoint/2010/main" val="206232174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4fe0ddb5941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ivider-accent">
            <a:extLst xmlns:a="http://schemas.openxmlformats.org/drawingml/2006/main">
              <a:ext uri="{FF2B5EF4-FFF2-40B4-BE49-F238E27FC236}">
                <a16:creationId xmlns:a16="http://schemas.microsoft.com/office/drawing/2014/main" id="{4AFACB3E-6F6A-45E2-9BB5-59769B3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33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60BCDC-A72A-4355-8537-4EE468B6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02020"/>
                </a:solidFill>
              </a:defRPr>
            </a:pPr>
            <a:r>
              <a:rPr sz="4350" b="1">
                <a:solidFill>
                  <a:srgbClr val="202020"/>
                </a:solidFill>
              </a:rPr>
              <a:t>Objects, copies, and aliases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8BAD258-EB9B-40FF-8BE5-F8D84ECE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55555"/>
                </a:solidFill>
              </a:defRPr>
            </a:pPr>
            <a:r>
              <a:rPr sz="2250">
                <a:solidFill>
                  <a:srgbClr val="555555"/>
                </a:solidFill>
              </a:rPr>
              <a:t>Trace object identity—not punctuation</a:t>
            </a:r>
          </a:p>
        </p:txBody>
      </p:sp>
    </p:spTree>
    <p:extLst>
      <p:ext uri="{BB962C8B-B14F-4D97-AF65-F5344CB8AC3E}">
        <p14:creationId xmlns:p14="http://schemas.microsoft.com/office/powerpoint/2010/main" val="143581337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9d0e508104f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D46F6C7-AFD4-41E9-A683-2FD3313E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9F2626"/>
                </a:solidFill>
              </a:defRPr>
            </a:pPr>
            <a:r>
              <a:rPr sz="3750" b="1">
                <a:solidFill>
                  <a:srgbClr val="9F2626"/>
                </a:solidFill>
              </a:rPr>
              <a:t>Does the caller’s value change?</a:t>
            </a:r>
          </a:p>
        </p:txBody>
      </p:sp>
      <p:sp>
        <p:nvSpPr>
          <p:cNvPr id="3" name="code-1-frame">
            <a:extLst xmlns:a="http://schemas.openxmlformats.org/drawingml/2006/main">
              <a:ext uri="{FF2B5EF4-FFF2-40B4-BE49-F238E27FC236}">
                <a16:creationId xmlns:a16="http://schemas.microsoft.com/office/drawing/2014/main" id="{EDA19C1E-09F7-49C7-A403-E9268BFB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85875"/>
            <a:ext cx="10515600" cy="1876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4" name="code-1-text">
            <a:extLst xmlns:a="http://schemas.openxmlformats.org/drawingml/2006/main">
              <a:ext uri="{FF2B5EF4-FFF2-40B4-BE49-F238E27FC236}">
                <a16:creationId xmlns:a16="http://schemas.microsoft.com/office/drawing/2014/main" id="{867264D4-34BF-4ED8-8928-50DBEA28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19225"/>
            <a:ext cx="101727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void increment(int x) {</a:t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    ++x;</a:t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int value = 10;</a:t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increment(value);</a:t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std::cout &lt;&lt; value;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E3D9C6F1-FE1A-4E7E-9F12-BA31BDDE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059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Commit to an answer before running the program.</a:t>
            </a:r>
          </a:p>
        </p:txBody>
      </p:sp>
    </p:spTree>
    <p:extLst>
      <p:ext uri="{BB962C8B-B14F-4D97-AF65-F5344CB8AC3E}">
        <p14:creationId xmlns:p14="http://schemas.microsoft.com/office/powerpoint/2010/main" val="138896921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f4801fd0640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C095431-977A-404B-910D-6AB514A2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Value parameters copy; references alias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ecd3843724d79"/>
          <a:stretch xmlns:a="http://schemas.openxmlformats.org/drawingml/2006/main"/>
        </p:blipFill>
        <p:spPr>
          <a:xfrm xmlns:a="http://schemas.openxmlformats.org/drawingml/2006/main">
            <a:off x="1797217" y="1190625"/>
            <a:ext cx="8597566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95947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4bff8ae044c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C5FF5A2-36C2-4B47-AD32-CB415D37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9F2626"/>
                </a:solidFill>
              </a:defRPr>
            </a:pPr>
            <a:r>
              <a:rPr sz="3750" b="1">
                <a:solidFill>
                  <a:srgbClr val="9F2626"/>
                </a:solidFill>
              </a:rPr>
              <a:t>Mini-trace: follow objects and aliases</a:t>
            </a:r>
          </a:p>
        </p:txBody>
      </p:sp>
      <p:sp>
        <p:nvSpPr>
          <p:cNvPr id="3" name="code-1-frame">
            <a:extLst xmlns:a="http://schemas.openxmlformats.org/drawingml/2006/main">
              <a:ext uri="{FF2B5EF4-FFF2-40B4-BE49-F238E27FC236}">
                <a16:creationId xmlns:a16="http://schemas.microsoft.com/office/drawing/2014/main" id="{4C215679-57DB-4427-950A-2939F01A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85875"/>
            <a:ext cx="10515600" cy="1876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4" name="code-1-text">
            <a:extLst xmlns:a="http://schemas.openxmlformats.org/drawingml/2006/main">
              <a:ext uri="{FF2B5EF4-FFF2-40B4-BE49-F238E27FC236}">
                <a16:creationId xmlns:a16="http://schemas.microsoft.com/office/drawing/2014/main" id="{BDEAB1CC-1E53-4380-B0BB-F78BD9BD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19225"/>
            <a:ext cx="101727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void add_one(int x)  { ++x; }</a:t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void add_two(int&amp; x) { x += 2;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int value = 10;</a:t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add_one(value);</a:t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add_two(value);</a:t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std::cout &lt;&lt; value;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EDCBFBF6-001C-4B59-8F0F-81FBD430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059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What is printed—and why?</a:t>
            </a:r>
          </a:p>
        </p:txBody>
      </p:sp>
    </p:spTree>
    <p:extLst>
      <p:ext uri="{BB962C8B-B14F-4D97-AF65-F5344CB8AC3E}">
        <p14:creationId xmlns:p14="http://schemas.microsoft.com/office/powerpoint/2010/main" val="69277089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ba07179a646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404BB65-D1DF-44AC-970F-DEE13E5E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Function signatures are contracts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38A609D2-3ECA-445F-BCFF-7A0D1D2C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Parameter form   •   Full object copy?   •   May modify caller’s object?</a:t>
            </a:r>
          </a:p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T value   •   yes   •   no</a:t>
            </a:r>
          </a:p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T&amp; value   •   no   •   yes</a:t>
            </a:r>
          </a:p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const T&amp; value   •   no   •   no</a:t>
            </a:r>
          </a:p>
        </p:txBody>
      </p:sp>
      <p:sp>
        <p:nvSpPr>
          <p:cNvPr id="4" name="code-1-frame">
            <a:extLst xmlns:a="http://schemas.openxmlformats.org/drawingml/2006/main">
              <a:ext uri="{FF2B5EF4-FFF2-40B4-BE49-F238E27FC236}">
                <a16:creationId xmlns:a16="http://schemas.microsoft.com/office/drawing/2014/main" id="{61BAEF5D-9227-4245-93FA-05D29F43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10515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5" name="code-1-text">
            <a:extLst xmlns:a="http://schemas.openxmlformats.org/drawingml/2006/main">
              <a:ext uri="{FF2B5EF4-FFF2-40B4-BE49-F238E27FC236}">
                <a16:creationId xmlns:a16="http://schemas.microsoft.com/office/drawing/2014/main" id="{33370924-25E0-4739-A392-63001422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33675"/>
            <a:ext cx="1017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int maximum(const std::vector&lt;int&gt;&amp; values);</a:t>
            </a:r>
          </a:p>
        </p:txBody>
      </p:sp>
      <p:sp>
        <p:nvSpPr>
          <p:cNvPr id="6" name="body-2">
            <a:extLst xmlns:a="http://schemas.openxmlformats.org/drawingml/2006/main">
              <a:ext uri="{FF2B5EF4-FFF2-40B4-BE49-F238E27FC236}">
                <a16:creationId xmlns:a16="http://schemas.microsoft.com/office/drawing/2014/main" id="{B3A25BDA-64BD-4BB4-BDBD-D00496BF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1059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The function can inspect a large vector without copying it or mutating it through this reference.</a:t>
            </a:r>
          </a:p>
        </p:txBody>
      </p:sp>
    </p:spTree>
    <p:extLst>
      <p:ext uri="{BB962C8B-B14F-4D97-AF65-F5344CB8AC3E}">
        <p14:creationId xmlns:p14="http://schemas.microsoft.com/office/powerpoint/2010/main" val="397898182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7b2fb413b4e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1F02C4F-CCD1-40F5-A2B1-CA4DF007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9F2626"/>
                </a:solidFill>
              </a:defRPr>
            </a:pPr>
            <a:r>
              <a:rPr sz="3750" b="1">
                <a:solidFill>
                  <a:srgbClr val="9F2626"/>
                </a:solidFill>
              </a:rPr>
              <a:t>What does a contain?</a:t>
            </a:r>
          </a:p>
        </p:txBody>
      </p:sp>
      <p:sp>
        <p:nvSpPr>
          <p:cNvPr id="3" name="code-1-frame">
            <a:extLst xmlns:a="http://schemas.openxmlformats.org/drawingml/2006/main">
              <a:ext uri="{FF2B5EF4-FFF2-40B4-BE49-F238E27FC236}">
                <a16:creationId xmlns:a16="http://schemas.microsoft.com/office/drawing/2014/main" id="{EE39AA8E-F1F7-48B6-BDAC-01EF8C94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85875"/>
            <a:ext cx="10515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4" name="code-1-text">
            <a:extLst xmlns:a="http://schemas.openxmlformats.org/drawingml/2006/main">
              <a:ext uri="{FF2B5EF4-FFF2-40B4-BE49-F238E27FC236}">
                <a16:creationId xmlns:a16="http://schemas.microsoft.com/office/drawing/2014/main" id="{4B648C94-0C07-4DFB-8247-FAB39548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19225"/>
            <a:ext cx="1017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std::vector&lt;int&gt; a{10, 20, 30};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auto b = a;</a:t>
            </a:r>
          </a:p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b[0] = 99;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ECD3D265-7731-427A-8A63-326729BE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059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Is a[0] now 10 or 99?</a:t>
            </a:r>
          </a:p>
        </p:txBody>
      </p:sp>
    </p:spTree>
    <p:extLst>
      <p:ext uri="{BB962C8B-B14F-4D97-AF65-F5344CB8AC3E}">
        <p14:creationId xmlns:p14="http://schemas.microsoft.com/office/powerpoint/2010/main" val="33019196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506ba8ccc4c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3E3ABA-ADC5-41B0-B965-3E156A5D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Copying creates a value; &amp; requests an alias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652a56bb249f8"/>
          <a:stretch xmlns:a="http://schemas.openxmlformats.org/drawingml/2006/main"/>
        </p:blipFill>
        <p:spPr>
          <a:xfrm xmlns:a="http://schemas.openxmlformats.org/drawingml/2006/main">
            <a:off x="1797217" y="1190625"/>
            <a:ext cx="8597566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2842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c3dc4063c41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84FBF8C-ABA1-4D51-A00A-8C262D75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9F2626"/>
                </a:solidFill>
              </a:defRPr>
            </a:pPr>
            <a:r>
              <a:rPr sz="3750" b="1">
                <a:solidFill>
                  <a:srgbClr val="9F2626"/>
                </a:solidFill>
              </a:rPr>
              <a:t>Integrated trace: copy, alias, then mutate</a:t>
            </a:r>
          </a:p>
        </p:txBody>
      </p:sp>
      <p:sp>
        <p:nvSpPr>
          <p:cNvPr id="3" name="code-1-frame">
            <a:extLst xmlns:a="http://schemas.openxmlformats.org/drawingml/2006/main">
              <a:ext uri="{FF2B5EF4-FFF2-40B4-BE49-F238E27FC236}">
                <a16:creationId xmlns:a16="http://schemas.microsoft.com/office/drawing/2014/main" id="{9ACBFE3F-3984-4477-8EBF-573F0FF1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85875"/>
            <a:ext cx="10515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4" name="code-1-text">
            <a:extLst xmlns:a="http://schemas.openxmlformats.org/drawingml/2006/main">
              <a:ext uri="{FF2B5EF4-FFF2-40B4-BE49-F238E27FC236}">
                <a16:creationId xmlns:a16="http://schemas.microsoft.com/office/drawing/2014/main" id="{1B71915B-706D-43DA-8308-7B6E6AB5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19225"/>
            <a:ext cx="101727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std::vector&lt;int&gt; a{1, 2, 3};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auto b = a;</a:t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auto&amp; c = a;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b[0] = 10;</a:t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c[1] = 20;</a:t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a.push_back(4);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F2D998CD-9FB5-4F36-8BEC-D8FAAD6F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1059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Determine the final contents of a, b, and c.</a:t>
            </a:r>
          </a:p>
        </p:txBody>
      </p:sp>
    </p:spTree>
    <p:extLst>
      <p:ext uri="{BB962C8B-B14F-4D97-AF65-F5344CB8AC3E}">
        <p14:creationId xmlns:p14="http://schemas.microsoft.com/office/powerpoint/2010/main" val="11896980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052ac963645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D277C27-BA82-4050-816C-9760A810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The object model predicts the result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A741173-5CE3-4FE6-BDBD-545F5638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105537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020"/>
                </a:solidFill>
              </a:defRPr>
            </a:pPr>
            <a:r>
              <a:rPr sz="2100">
                <a:solidFill>
                  <a:srgbClr val="202020"/>
                </a:solidFill>
              </a:rPr>
              <a:t>Name   •   Final contents   •   Why</a:t>
            </a:r>
          </a:p>
          <a:p xmlns:a="http://schemas.openxmlformats.org/drawingml/2006/main">
            <a:pPr>
              <a:defRPr sz="2100">
                <a:solidFill>
                  <a:srgbClr val="202020"/>
                </a:solidFill>
              </a:defRPr>
            </a:pPr>
            <a:r>
              <a:rPr sz="2100">
                <a:solidFill>
                  <a:srgbClr val="202020"/>
                </a:solidFill>
              </a:rPr>
              <a:t>a   •   [1, 20, 3, 4]   •   original vector object</a:t>
            </a:r>
          </a:p>
          <a:p xmlns:a="http://schemas.openxmlformats.org/drawingml/2006/main">
            <a:pPr>
              <a:defRPr sz="2100">
                <a:solidFill>
                  <a:srgbClr val="202020"/>
                </a:solidFill>
              </a:defRPr>
            </a:pPr>
            <a:r>
              <a:rPr sz="2100">
                <a:solidFill>
                  <a:srgbClr val="202020"/>
                </a:solidFill>
              </a:rPr>
              <a:t>b   •   [10, 2, 3]   •   independent copy</a:t>
            </a:r>
          </a:p>
          <a:p xmlns:a="http://schemas.openxmlformats.org/drawingml/2006/main">
            <a:pPr>
              <a:defRPr sz="2100">
                <a:solidFill>
                  <a:srgbClr val="202020"/>
                </a:solidFill>
              </a:defRPr>
            </a:pPr>
            <a:r>
              <a:rPr sz="2100">
                <a:solidFill>
                  <a:srgbClr val="202020"/>
                </a:solidFill>
              </a:rPr>
              <a:t>c   •   [1, 20, 3, 4]   •   reference: another name for 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202020"/>
                </a:solidFill>
              </a:defRPr>
            </a:pPr>
            <a:r>
              <a:rPr sz="2100">
                <a:solidFill>
                  <a:srgbClr val="202020"/>
                </a:solidFill>
              </a:rPr>
              <a:t>The important result is not the numbers. It is the object model that makes them predictable.</a:t>
            </a:r>
          </a:p>
        </p:txBody>
      </p:sp>
    </p:spTree>
    <p:extLst>
      <p:ext uri="{BB962C8B-B14F-4D97-AF65-F5344CB8AC3E}">
        <p14:creationId xmlns:p14="http://schemas.microsoft.com/office/powerpoint/2010/main" val="1354417225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856f0826749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ivider-accent">
            <a:extLst xmlns:a="http://schemas.openxmlformats.org/drawingml/2006/main">
              <a:ext uri="{FF2B5EF4-FFF2-40B4-BE49-F238E27FC236}">
                <a16:creationId xmlns:a16="http://schemas.microsoft.com/office/drawing/2014/main" id="{D7B805EC-153C-4AC8-BA6A-1D046A73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33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7CF6C1-0879-43C5-A671-0FF29D86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02020"/>
                </a:solidFill>
              </a:defRPr>
            </a:pPr>
            <a:r>
              <a:rPr sz="4350" b="1">
                <a:solidFill>
                  <a:srgbClr val="202020"/>
                </a:solidFill>
              </a:rPr>
              <a:t>From records to data structures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DE6D504-87AE-4155-AECB-C6D93A95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55555"/>
                </a:solidFill>
              </a:defRPr>
            </a:pPr>
            <a:r>
              <a:rPr sz="2250">
                <a:solidFill>
                  <a:srgbClr val="555555"/>
                </a:solidFill>
              </a:rPr>
              <a:t>Representation + relationships + invariants</a:t>
            </a:r>
          </a:p>
        </p:txBody>
      </p:sp>
    </p:spTree>
    <p:extLst>
      <p:ext uri="{BB962C8B-B14F-4D97-AF65-F5344CB8AC3E}">
        <p14:creationId xmlns:p14="http://schemas.microsoft.com/office/powerpoint/2010/main" val="42797482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7566f5d4a49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157942-9972-45EF-AE12-07266D64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A struct groups values into one logical record</a:t>
            </a:r>
          </a:p>
        </p:txBody>
      </p:sp>
      <p:sp>
        <p:nvSpPr>
          <p:cNvPr id="3" name="code-1-frame">
            <a:extLst xmlns:a="http://schemas.openxmlformats.org/drawingml/2006/main">
              <a:ext uri="{FF2B5EF4-FFF2-40B4-BE49-F238E27FC236}">
                <a16:creationId xmlns:a16="http://schemas.microsoft.com/office/drawing/2014/main" id="{D10E0DB5-B2BA-4083-8D84-E80135EC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85875"/>
            <a:ext cx="10515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4" name="code-1-text">
            <a:extLst xmlns:a="http://schemas.openxmlformats.org/drawingml/2006/main">
              <a:ext uri="{FF2B5EF4-FFF2-40B4-BE49-F238E27FC236}">
                <a16:creationId xmlns:a16="http://schemas.microsoft.com/office/drawing/2014/main" id="{B736FCDA-9035-4E05-A811-02ECD8A6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19225"/>
            <a:ext cx="101727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struct Measurement {</a:t>
            </a:r>
          </a:p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    std::string name;</a:t>
            </a:r>
          </a:p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    double value;</a:t>
            </a:r>
          </a:p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Measurement cpu{"CPU temperature", 61.5};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8D1526B3-5B13-40B8-97FF-91759176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1059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A future node begins the same way:</a:t>
            </a:r>
          </a:p>
        </p:txBody>
      </p:sp>
      <p:sp>
        <p:nvSpPr>
          <p:cNvPr id="6" name="code-2-frame">
            <a:extLst xmlns:a="http://schemas.openxmlformats.org/drawingml/2006/main">
              <a:ext uri="{FF2B5EF4-FFF2-40B4-BE49-F238E27FC236}">
                <a16:creationId xmlns:a16="http://schemas.microsoft.com/office/drawing/2014/main" id="{2AF99CBF-1DD9-4272-983A-05A00DE5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10515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7" name="code-2-text">
            <a:extLst xmlns:a="http://schemas.openxmlformats.org/drawingml/2006/main">
              <a:ext uri="{FF2B5EF4-FFF2-40B4-BE49-F238E27FC236}">
                <a16:creationId xmlns:a16="http://schemas.microsoft.com/office/drawing/2014/main" id="{8E4D4141-4824-4D8C-800D-DABBC280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1017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struct Node {</a:t>
            </a:r>
          </a:p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    int value;</a:t>
            </a:r>
          </a:p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    // relationships to other nodes come next</a:t>
            </a:r>
          </a:p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};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D254F290-6451-4141-AB77-D2FF2048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9675"/>
            <a:ext cx="1059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Complex structures are simpler records plus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2075052114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d1bb28a784b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0017C9D-9545-4C6A-B84C-5300B2ED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Classes separate interface from representation</a:t>
            </a:r>
          </a:p>
        </p:txBody>
      </p:sp>
      <p:sp>
        <p:nvSpPr>
          <p:cNvPr id="3" name="code-1-frame">
            <a:extLst xmlns:a="http://schemas.openxmlformats.org/drawingml/2006/main">
              <a:ext uri="{FF2B5EF4-FFF2-40B4-BE49-F238E27FC236}">
                <a16:creationId xmlns:a16="http://schemas.microsoft.com/office/drawing/2014/main" id="{34AD63D8-0BC1-4862-97DE-3A895382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85875"/>
            <a:ext cx="10515600" cy="2314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4" name="code-1-text">
            <a:extLst xmlns:a="http://schemas.openxmlformats.org/drawingml/2006/main">
              <a:ext uri="{FF2B5EF4-FFF2-40B4-BE49-F238E27FC236}">
                <a16:creationId xmlns:a16="http://schemas.microsoft.com/office/drawing/2014/main" id="{A12E57CB-DA76-4236-918C-B924A249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19225"/>
            <a:ext cx="101727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class IntSequence {</a:t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public:</a:t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    void append(int value);</a:t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    std::size_t size() const;</a:t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    int at(std::size_t index) const;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private:</a:t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    std::vector&lt;int&gt; data_;</a:t>
            </a:r>
          </a:p>
          <a:p xmlns:a="http://schemas.openxmlformats.org/drawingml/2006/main">
            <a:pPr>
              <a:defRPr sz="1350">
                <a:solidFill>
                  <a:srgbClr val="202020"/>
                </a:solidFill>
              </a:defRPr>
            </a:pPr>
            <a:r>
              <a:rPr sz="1350">
                <a:solidFill>
                  <a:srgbClr val="202020"/>
                </a:solidFill>
              </a:rPr>
              <a:t>};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D3BB661D-60D6-4109-B30B-B0BAC138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59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Client code sees append, size, and at.</a:t>
            </a:r>
          </a:p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The current representation is std::vector&lt;int&gt;.</a:t>
            </a:r>
          </a:p>
        </p:txBody>
      </p:sp>
    </p:spTree>
    <p:extLst>
      <p:ext uri="{BB962C8B-B14F-4D97-AF65-F5344CB8AC3E}">
        <p14:creationId xmlns:p14="http://schemas.microsoft.com/office/powerpoint/2010/main" val="682002082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f7f6d989a44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BF6617E-1AD3-4F04-8825-64BAA8BF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The same interface can hide different costs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0654A927-18A3-45A7-BABF-8A7AC5A7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Suppose IntSequence preserves these methods:</a:t>
            </a:r>
          </a:p>
        </p:txBody>
      </p:sp>
      <p:sp>
        <p:nvSpPr>
          <p:cNvPr id="4" name="code-1-frame">
            <a:extLst xmlns:a="http://schemas.openxmlformats.org/drawingml/2006/main">
              <a:ext uri="{FF2B5EF4-FFF2-40B4-BE49-F238E27FC236}">
                <a16:creationId xmlns:a16="http://schemas.microsoft.com/office/drawing/2014/main" id="{8371A24D-1EFC-4629-9EDC-634E13F6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10515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5" name="code-1-text">
            <a:extLst xmlns:a="http://schemas.openxmlformats.org/drawingml/2006/main">
              <a:ext uri="{FF2B5EF4-FFF2-40B4-BE49-F238E27FC236}">
                <a16:creationId xmlns:a16="http://schemas.microsoft.com/office/drawing/2014/main" id="{6A662523-F451-4635-94BB-744F5D7F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1017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append(value)   size()   at(index)</a:t>
            </a:r>
          </a:p>
        </p:txBody>
      </p:sp>
      <p:sp>
        <p:nvSpPr>
          <p:cNvPr id="6" name="body-2">
            <a:extLst xmlns:a="http://schemas.openxmlformats.org/drawingml/2006/main">
              <a:ext uri="{FF2B5EF4-FFF2-40B4-BE49-F238E27FC236}">
                <a16:creationId xmlns:a16="http://schemas.microsoft.com/office/drawing/2014/main" id="{AA0B0C8D-1159-49B1-9421-721DAF30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105918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Internal representation   •   at(index)</a:t>
            </a:r>
          </a:p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Contiguous vector   •   direct indexed access</a:t>
            </a:r>
          </a:p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Linked sequence   •   traverse from a known 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Existing client code may still compile. Its performance assumptions may no longer hold.</a:t>
            </a:r>
          </a:p>
        </p:txBody>
      </p:sp>
    </p:spTree>
    <p:extLst>
      <p:ext uri="{BB962C8B-B14F-4D97-AF65-F5344CB8AC3E}">
        <p14:creationId xmlns:p14="http://schemas.microsoft.com/office/powerpoint/2010/main" val="2093465438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041dfb88b49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214417-1CE9-4075-919D-F645A916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9F2626"/>
                </a:solidFill>
              </a:defRPr>
            </a:pPr>
            <a:r>
              <a:rPr sz="3750" b="1">
                <a:solidFill>
                  <a:srgbClr val="9F2626"/>
                </a:solidFill>
              </a:rPr>
              <a:t>Duplicated state creates a new invariant</a:t>
            </a:r>
          </a:p>
        </p:txBody>
      </p:sp>
      <p:sp>
        <p:nvSpPr>
          <p:cNvPr id="3" name="code-1-frame">
            <a:extLst xmlns:a="http://schemas.openxmlformats.org/drawingml/2006/main">
              <a:ext uri="{FF2B5EF4-FFF2-40B4-BE49-F238E27FC236}">
                <a16:creationId xmlns:a16="http://schemas.microsoft.com/office/drawing/2014/main" id="{C78B3ABD-D86F-468E-AC43-35F359DD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85875"/>
            <a:ext cx="105156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4" name="code-1-text">
            <a:extLst xmlns:a="http://schemas.openxmlformats.org/drawingml/2006/main">
              <a:ext uri="{FF2B5EF4-FFF2-40B4-BE49-F238E27FC236}">
                <a16:creationId xmlns:a16="http://schemas.microsoft.com/office/drawing/2014/main" id="{FCDEF3F5-4348-4484-BD90-DC86756A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19225"/>
            <a:ext cx="10172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class IntSequence {</a:t>
            </a:r>
          </a:p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private:</a:t>
            </a:r>
          </a:p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    std::vector&lt;int&gt; data_;</a:t>
            </a:r>
          </a:p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    std::size_t size_;</a:t>
            </a:r>
          </a:p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};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AA11D271-2D06-4CB2-9188-F21E1C89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059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Now every mutating operation must preserve:</a:t>
            </a:r>
          </a:p>
        </p:txBody>
      </p:sp>
      <p:sp>
        <p:nvSpPr>
          <p:cNvPr id="6" name="code-2-frame">
            <a:extLst xmlns:a="http://schemas.openxmlformats.org/drawingml/2006/main">
              <a:ext uri="{FF2B5EF4-FFF2-40B4-BE49-F238E27FC236}">
                <a16:creationId xmlns:a16="http://schemas.microsoft.com/office/drawing/2014/main" id="{45A49A21-A10B-45D8-B728-E35BD093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10515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28575">
            <a:solidFill>
              <a:srgbClr val="C93636"/>
            </a:solidFill>
            <a:prstDash val="solid"/>
          </a:ln>
        </p:spPr>
      </p:sp>
      <p:sp>
        <p:nvSpPr>
          <p:cNvPr id="7" name="code-2-text">
            <a:extLst xmlns:a="http://schemas.openxmlformats.org/drawingml/2006/main">
              <a:ext uri="{FF2B5EF4-FFF2-40B4-BE49-F238E27FC236}">
                <a16:creationId xmlns:a16="http://schemas.microsoft.com/office/drawing/2014/main" id="{0CAAE851-59EA-4AA2-8769-BD2AB73A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1017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0"/>
                </a:solidFill>
              </a:defRPr>
            </a:pPr>
            <a:r>
              <a:rPr sz="1500">
                <a:solidFill>
                  <a:srgbClr val="202020"/>
                </a:solidFill>
              </a:rPr>
              <a:t>size_ == data_.size()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CD78FE62-7D3A-448D-AE4C-39A5E7C8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1059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If data_.size() is already available, what justifies storing size_ again?</a:t>
            </a:r>
          </a:p>
        </p:txBody>
      </p:sp>
    </p:spTree>
    <p:extLst>
      <p:ext uri="{BB962C8B-B14F-4D97-AF65-F5344CB8AC3E}">
        <p14:creationId xmlns:p14="http://schemas.microsoft.com/office/powerpoint/2010/main" val="1473155846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5782840824a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E62257-7F39-4B5A-A289-F2D5FE4F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Representation drives correctness and cost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592fd2e624eb7"/>
          <a:stretch xmlns:a="http://schemas.openxmlformats.org/drawingml/2006/main"/>
        </p:blipFill>
        <p:spPr>
          <a:xfrm xmlns:a="http://schemas.openxmlformats.org/drawingml/2006/main">
            <a:off x="1291478" y="1190625"/>
            <a:ext cx="9609044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1304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4b82f14274b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E3FDB6-2CCE-438D-922E-97CE5B86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Complexity is essential—but not sufficient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891122D-15CE-4F06-A3F6-15928D9A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105537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For a vector-backed sequence: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Operation   •   Initial complexity claim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at(index)   •   Θ(1)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append(value)   •   amortized Θ(1)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insert at front   •   Θ(n)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Also inspect: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locality · allocations · pointer chasing · resizing · memory overhead · constants</a:t>
            </a:r>
          </a:p>
        </p:txBody>
      </p:sp>
    </p:spTree>
    <p:extLst>
      <p:ext uri="{BB962C8B-B14F-4D97-AF65-F5344CB8AC3E}">
        <p14:creationId xmlns:p14="http://schemas.microsoft.com/office/powerpoint/2010/main" val="162471451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3895a348b42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66BEA0-55C9-48AC-9662-CD495707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Carry four questions into every new structure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8cbbbbf874193"/>
          <a:stretch xmlns:a="http://schemas.openxmlformats.org/drawingml/2006/main"/>
        </p:blipFill>
        <p:spPr>
          <a:xfrm xmlns:a="http://schemas.openxmlformats.org/drawingml/2006/main">
            <a:off x="1797217" y="1190625"/>
            <a:ext cx="8597566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752560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98c52900644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375471A-7FB4-4506-BF83-A4F1455F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AI does not remove the design obligation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2806071-9655-414B-942B-FBD0DAB1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105537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When an AI proposes a container or implementation, someone must still ask: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Does the representation match the workload?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What invariants must remain true?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What are the time and space costs?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Are copying, ownership, and lifetime correct?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Do the tests demonstrate the required behaviour?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“If you cannot explain why a solution works, you cannot reliably recognize when it does not.”</a:t>
            </a:r>
          </a:p>
        </p:txBody>
      </p:sp>
    </p:spTree>
    <p:extLst>
      <p:ext uri="{BB962C8B-B14F-4D97-AF65-F5344CB8AC3E}">
        <p14:creationId xmlns:p14="http://schemas.microsoft.com/office/powerpoint/2010/main" val="313215029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3073ae8aa45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3E23101-0F68-46A9-AD99-7C743499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Practical work: predict, run, explain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4110E06-CA2E-4AA4-87BB-8C1EB825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105537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In the Week 1 practical session you will: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compile and run C++20 code;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interpret compiler diagnostics;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use std::vector and small records;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diagnose value versus reference behaviour;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trace copies and aliases before execution;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explain what representation a small class uses.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The objective is not syntax memorization. It is a mental model accurate enough to implement data structures.</a:t>
            </a:r>
          </a:p>
        </p:txBody>
      </p:sp>
    </p:spTree>
    <p:extLst>
      <p:ext uri="{BB962C8B-B14F-4D97-AF65-F5344CB8AC3E}">
        <p14:creationId xmlns:p14="http://schemas.microsoft.com/office/powerpoint/2010/main" val="1892291202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fe2777e734c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ivider-accent">
            <a:extLst xmlns:a="http://schemas.openxmlformats.org/drawingml/2006/main">
              <a:ext uri="{FF2B5EF4-FFF2-40B4-BE49-F238E27FC236}">
                <a16:creationId xmlns:a16="http://schemas.microsoft.com/office/drawing/2014/main" id="{E85D62DB-A54E-4BED-8944-8FA0E7CD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33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5B5278-8605-4CCE-82E5-19D59552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02020"/>
                </a:solidFill>
              </a:defRPr>
            </a:pPr>
            <a:r>
              <a:rPr sz="4350" b="1">
                <a:solidFill>
                  <a:srgbClr val="202020"/>
                </a:solidFill>
              </a:rPr>
              <a:t>Week 2: pointers, lifetime, and ownership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5F79995-A2AD-4080-B8D1-B984622E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55555"/>
                </a:solidFill>
              </a:defRPr>
            </a:pPr>
            <a:r>
              <a:rPr sz="2250">
                <a:solidFill>
                  <a:srgbClr val="555555"/>
                </a:solidFill>
              </a:rPr>
              <a:t>Node 10 → Node 20 → Node 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>
                <a:solidFill>
                  <a:srgbClr val="555555"/>
                </a:solidFill>
              </a:defRPr>
            </a:pPr>
            <a:r>
              <a:rPr sz="2250">
                <a:solidFill>
                  <a:srgbClr val="555555"/>
                </a:solidFill>
              </a:rPr>
              <a:t>How can one node store the location of another—and who owns those nodes?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>
                <a:solidFill>
                  <a:srgbClr val="555555"/>
                </a:solidFill>
              </a:defRPr>
            </a:pPr>
            <a:r>
              <a:rPr sz="2250">
                <a:solidFill>
                  <a:srgbClr val="555555"/>
                </a:solidFill>
              </a:rPr>
              <a:t>Next: pointers, lifetime, ownership, RAII, and templates.</a:t>
            </a:r>
          </a:p>
        </p:txBody>
      </p:sp>
    </p:spTree>
    <p:extLst>
      <p:ext uri="{BB962C8B-B14F-4D97-AF65-F5344CB8AC3E}">
        <p14:creationId xmlns:p14="http://schemas.microsoft.com/office/powerpoint/2010/main" val="891201562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5be95c1524e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7EE034D-A1B6-4AD7-8F90-BCCE6C9B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Authoritative references and further reading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1173972-B064-4942-ADF5-A9060C4F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105537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Bjarne Stroustrup — A History of C++: 1979–1991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Bjarne Stroustrup — A Tour of C++, 3rd edition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Stroustrup and Sutter — C++ Core Guidelines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C++ working draft: Memory and objects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C++ working draft: Sequence containers</a:t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• cppreference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555555"/>
                </a:solidFill>
              </a:defRPr>
            </a:pPr>
            <a:r>
              <a:rPr sz="2100">
                <a:solidFill>
                  <a:srgbClr val="555555"/>
                </a:solidFill>
              </a:rPr>
              <a:t>Use references to resolve precise language and library questions—not as a substitute for tracing the program’s objects and operations.</a:t>
            </a:r>
          </a:p>
        </p:txBody>
      </p:sp>
    </p:spTree>
    <p:extLst>
      <p:ext uri="{BB962C8B-B14F-4D97-AF65-F5344CB8AC3E}">
        <p14:creationId xmlns:p14="http://schemas.microsoft.com/office/powerpoint/2010/main" val="1608788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2026-09-01T16:18:47.3280000Z</dcterms:created>
  <dcterms:modified xsi:type="dcterms:W3CDTF">2026-09-01T16:18:47.3280000Z</dcterms:modified>
</coreProperties>
</file>